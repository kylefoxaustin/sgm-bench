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2124"/>
                </a:solidFill>
                <a:latin typeface="Calibri"/>
              </a:rPr>
              <a:t>One SGM workload, two input resolutions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124"/>
                </a:solidFill>
                <a:latin typeface="Calibri"/>
              </a:rPr>
              <a:t>The workload: dense stereo depth by Semi-Global Matching — two FULL 64-disparity searches, one at input resolution and one at half, data costs averaged (multi-scale fusion), census 9x7 on a SobelX-prefiltered image, 8 aggregation paths with direction-weighted P1 (40/20/10), P2=200 saturating, half-resolution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Calibri"/>
              </a:rPr>
              <a:t>Run 1:  1920 x 1080 stereo input   -&gt;   960 x 540 disparity map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Calibri"/>
              </a:rPr>
              <a:t>Run 2:  1920 x  800 stereo input   -&gt;   960 x 400 disparity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Same algorithm, same parameters, same hardware roster — fifteen processing units from four silicon vendors. The ONLY variable between the runs is the input size. Acceptance: for each resolution a scalar oracle defines a golden disparity map, and every implementation must reproduce it byte-for-byte in the same invocation that is timed, or the timing is void. The fixed-function OFA engines (which run their own frozen algorithm) are measured beside the roster at the same geometry, labelled as such.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Calibri"/>
              </a:rPr>
              <a:t>Every number is MEASURED (medians of repeated runs; spreads recorded). Code, scenes, goldens and instruments: github.com/kylefoxaustin/sgm-bench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124"/>
                </a:solidFill>
                <a:latin typeface="Calibri"/>
              </a:rPr>
              <a:t>Run 1 — 1920×1080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F6368"/>
                </a:solidFill>
                <a:latin typeface="Calibri"/>
              </a:rPr>
              <a:t>960×540 output · golden 0f0961d623009df5 · MDE/s(work) = (2.074 + 0.518) Mpx × 64 / 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17904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914400"/>
                <a:gridCol w="1737360"/>
                <a:gridCol w="1188720"/>
                <a:gridCol w="1737360"/>
                <a:gridCol w="2194560"/>
              </a:tblGrid>
              <a:tr h="228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processing unit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runtime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fps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MDE/s (work)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vs scalar reference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NVIDIA Thor OFA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B4FD1"/>
                          </a:solidFill>
                        </a:rPr>
                        <a:t>HW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4.08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4,417x (time only)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NVIDIA RTX 5090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11.96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83.6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13,870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1,507x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NVIDIA Orin AGX OFA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B4FD1"/>
                          </a:solidFill>
                        </a:rPr>
                        <a:t>HW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19.51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924x (time only)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NVIDIA Thor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56.70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2,928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318x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NVIDIA Orin AGX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96.90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1,711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186x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Cortex-A720 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239.60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4.17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75x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Cortex-A78C x8 (6 threads)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291.80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62x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Hexagon v73 NSP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2B5A5"/>
                          </a:solidFill>
                        </a:rPr>
                        <a:t>DSP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372.40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48x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Mali-G720 (10 CU)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509.40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35x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Cortex-A78C 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595.30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30x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Cortex-A720 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643.10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28x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Cortex-A55 x6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844.80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21x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Cortex-A55 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2,954.00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6x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Mali-G310 (1 CU)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3,657.00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5x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scalar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9AA0A6"/>
                          </a:solidFill>
                        </a:rP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18,020.00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the floor (1x)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Calibri"/>
              </a:rPr>
              <a:t>Every software row byte-identical to golden 0f0961d623009df5, hash-gated in the timed run. OFA rows: the fixed-function engines running their OWN algorithm at matched input/output geometry (D=128) — throughput only, not bit-exact, MDE/s undefined for a different algorithm.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Run 1 — 1920×1080, in frames per second</a:t>
            </a:r>
          </a:p>
        </p:txBody>
      </p:sp>
      <p:pic>
        <p:nvPicPr>
          <p:cNvPr id="3" name="Picture 2" descr="run1080_f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14400"/>
            <a:ext cx="87168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124"/>
                </a:solidFill>
                <a:latin typeface="Calibri"/>
              </a:rPr>
              <a:t>Run 2 — 1920×800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F6368"/>
                </a:solidFill>
                <a:latin typeface="Calibri"/>
              </a:rPr>
              <a:t>960×400 output · golden bcb9cb0bd6f49799 · MDE/s(work) = (0.384 + 1.536) Mpx × 64 / 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17904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914400"/>
                <a:gridCol w="1737360"/>
                <a:gridCol w="1188720"/>
                <a:gridCol w="1737360"/>
                <a:gridCol w="2194560"/>
              </a:tblGrid>
              <a:tr h="228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processing unit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runtime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fps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MDE/s (work)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vs scalar reference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NVIDIA Thor OFA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B4FD1"/>
                          </a:solidFill>
                        </a:rPr>
                        <a:t>HW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3.38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4,220x (time only)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NVIDIA RTX 5090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9.08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13,538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1,571x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NVIDIA Orin AGX OFA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B4FD1"/>
                          </a:solidFill>
                        </a:rPr>
                        <a:t>HW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14.90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957x (time only)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NVIDIA Thor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45.10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2,723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316x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NVIDIA Orin AGX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72.80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1,688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196x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Cortex-A78C x8 (6 threads)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211.90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67x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Cortex-A720 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238.30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4.20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60x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Hexagon v73 NSP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2B5A5"/>
                          </a:solidFill>
                        </a:rPr>
                        <a:t>DSP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276.30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52x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Mali-G720 (10 CU)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380.00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38x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Cortex-A78C 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442.60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32x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Cortex-A720 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470.90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30x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Cortex-A55 x6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640.10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22x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Cortex-A55 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8710A"/>
                          </a:solidFill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2,201.00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6x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Mali-G310 (1 CU)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8BF5"/>
                          </a:solidFill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2,704.00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5x faster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scalar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9AA0A6"/>
                          </a:solidFill>
                        </a:rP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14,265.00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</a:rPr>
                        <a:t>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</a:rPr>
                        <a:t>the floor (1x)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Calibri"/>
              </a:rPr>
              <a:t>Every software row byte-identical to golden bcb9cb0bd6f49799, hash-gated in the timed run. OFA rows: the fixed-function engines running their OWN algorithm at matched input/output geometry (D=128) — throughput only, not bit-exact, MDE/s undefined for a different algorithm.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  <a:latin typeface="Calibri"/>
              </a:rPr>
              <a:t>Run 2 — 1920×800, in frames per second</a:t>
            </a:r>
          </a:p>
        </p:txBody>
      </p:sp>
      <p:pic>
        <p:nvPicPr>
          <p:cNvPr id="3" name="Picture 2" descr="run800_f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14400"/>
            <a:ext cx="87168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124"/>
                </a:solidFill>
                <a:latin typeface="Calibri"/>
              </a:rPr>
              <a:t>The two runs agree: performance scales with input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124"/>
                </a:solidFill>
                <a:latin typeface="Calibri"/>
              </a:rPr>
              <a:t>1920x1080 has 1.35x the pixels of 1920x800, so run 1 should take ~1.35x run 2's time on every chip. It does: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124"/>
                </a:solidFill>
                <a:latin typeface="Calibri"/>
              </a:rPr>
              <a:t>NVIDIA RTX 5090:  1.32x</a:t>
            </a:r>
          </a:p>
          <a:p>
            <a:r>
              <a:rPr sz="1500">
                <a:solidFill>
                  <a:srgbClr val="202124"/>
                </a:solidFill>
                <a:latin typeface="Calibri"/>
              </a:rPr>
              <a:t>NVIDIA Thor GPU:  1.26x</a:t>
            </a:r>
          </a:p>
          <a:p>
            <a:r>
              <a:rPr sz="1500">
                <a:solidFill>
                  <a:srgbClr val="202124"/>
                </a:solidFill>
                <a:latin typeface="Calibri"/>
              </a:rPr>
              <a:t>NVIDIA Orin AGX GPU:  1.33x</a:t>
            </a:r>
          </a:p>
          <a:p>
            <a:r>
              <a:rPr sz="1500">
                <a:solidFill>
                  <a:srgbClr val="202124"/>
                </a:solidFill>
                <a:latin typeface="Calibri"/>
              </a:rPr>
              <a:t>Cortex-A78C x8:  1.38x</a:t>
            </a:r>
          </a:p>
          <a:p>
            <a:r>
              <a:rPr sz="1500">
                <a:solidFill>
                  <a:srgbClr val="202124"/>
                </a:solidFill>
                <a:latin typeface="Calibri"/>
              </a:rPr>
              <a:t>Hexagon v73 NSP:  1.348x  — and identical MDE/s both runs</a:t>
            </a:r>
          </a:p>
          <a:p>
            <a:r>
              <a:rPr sz="1500">
                <a:solidFill>
                  <a:srgbClr val="202124"/>
                </a:solidFill>
                <a:latin typeface="Calibri"/>
              </a:rPr>
              <a:t>Mali-G720:  1.34x</a:t>
            </a:r>
          </a:p>
          <a:p>
            <a:r>
              <a:rPr sz="1500">
                <a:solidFill>
                  <a:srgbClr val="202124"/>
                </a:solidFill>
                <a:latin typeface="Calibri"/>
              </a:rPr>
              <a:t>Mali-G310:  1.35x</a:t>
            </a:r>
          </a:p>
          <a:p>
            <a:r>
              <a:rPr sz="1500">
                <a:solidFill>
                  <a:srgbClr val="202124"/>
                </a:solidFill>
                <a:latin typeface="Calibri"/>
              </a:rPr>
              <a:t>single Arm cores:  1.32x – 1.37x</a:t>
            </a:r>
          </a:p>
          <a:p>
            <a:r>
              <a:rPr sz="1500">
                <a:solidFill>
                  <a:srgbClr val="202124"/>
                </a:solidFill>
                <a:latin typeface="Calibri"/>
              </a:rPr>
              <a:t>OFA engines:  1.21x / 1.31x</a:t>
            </a:r>
          </a:p>
          <a:p>
            <a:r>
              <a:rPr sz="1500">
                <a:solidFill>
                  <a:srgbClr val="202124"/>
                </a:solidFill>
                <a:latin typeface="Calibri"/>
              </a:rPr>
              <a:t>Cortex-A720 x8:  1.01x  — THE exception: the 8-thread cluster was never work-limited at 1920x800 (thread scaling 1.98x vs 2.68x), so the extra 35% of pixels ride in its slack for 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Calibri"/>
              </a:rPr>
              <a:t>Which is the point of running both: a benchmark whose two resolutions scale by exactly the pixel ratio, bit-exact at each size, is measuring the workload — not an artifact of either scene.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124"/>
                </a:solidFill>
                <a:latin typeface="Calibri"/>
              </a:rPr>
              <a:t>The same kernels on real stereo imagery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Calibri"/>
              </a:rPr>
              <a:t>Middlebury 2014 'Motorcycle' — real calibrated two-camera capture, dense structured-light ground truth, 1482x1000, D=128</a:t>
            </a:r>
          </a:p>
        </p:txBody>
      </p:sp>
      <p:pic>
        <p:nvPicPr>
          <p:cNvPr id="4" name="Picture 3" descr="motorcycl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64240" cy="3288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02124"/>
                </a:solidFill>
                <a:latin typeface="Calibri"/>
              </a:rPr>
              <a:t>Seven targets produce the identical golden e8a95242882013f0 on the real capture — the picture is the same, only the time differs. Accuracy vs dense ground truth: bad&gt;1px 16.2%, bad&gt;2px 11.2%, MAE 3.35 — confirmed to 0.05 points by a second scoring derived from the ground-truth arrays.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