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02124"/>
                </a:solidFill>
                <a:latin typeface="Calibri"/>
              </a:rPr>
              <a:t>Semi-Global Matching across nine execution targets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F6368"/>
                </a:solidFill>
                <a:latin typeface="Calibri"/>
              </a:rPr>
              <a:t>1920x1080  ·  D=64  ·  4 paths  ·  9x7 census  ·  every row bit-exact to golden 46470bd7a464469d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72768"/>
          <a:ext cx="1106424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005840"/>
                <a:gridCol w="1554480"/>
                <a:gridCol w="1371600"/>
                <a:gridCol w="1737360"/>
                <a:gridCol w="2194560"/>
              </a:tblGrid>
              <a:tr h="2468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processing unit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class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runtime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fps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MDE/s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vs scalar reference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02124"/>
                          </a:solidFill>
                        </a:rPr>
                        <a:t>NVIDIA RTX 5090 GPU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C8BF5"/>
                          </a:solidFill>
                        </a:rPr>
                        <a:t>GPU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</a:rPr>
                        <a:t>3.55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</a:rPr>
                        <a:t>281.7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02124"/>
                          </a:solidFill>
                        </a:rPr>
                        <a:t>37,383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</a:rPr>
                        <a:t>2,588x faster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02124"/>
                          </a:solidFill>
                        </a:rPr>
                        <a:t>NVIDIA Thor OFA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7B4FD1"/>
                          </a:solidFill>
                        </a:rPr>
                        <a:t>HW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</a:rPr>
                        <a:t>9.35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</a:rPr>
                        <a:t>107.0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02124"/>
                          </a:solidFill>
                        </a:rPr>
                        <a:t>14,201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</a:rPr>
                        <a:t>983x faster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02124"/>
                          </a:solidFill>
                        </a:rPr>
                        <a:t>NVIDIA Thor GPU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C8BF5"/>
                          </a:solidFill>
                        </a:rPr>
                        <a:t>GPU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</a:rPr>
                        <a:t>13.19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</a:rPr>
                        <a:t>75.8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02124"/>
                          </a:solidFill>
                        </a:rPr>
                        <a:t>10,061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</a:rPr>
                        <a:t>697x faster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02124"/>
                          </a:solidFill>
                        </a:rPr>
                        <a:t>NVIDIA Orin AGX GPU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C8BF5"/>
                          </a:solidFill>
                        </a:rPr>
                        <a:t>GPU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</a:rPr>
                        <a:t>23.28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</a:rPr>
                        <a:t>43.0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02124"/>
                          </a:solidFill>
                        </a:rPr>
                        <a:t>5,701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</a:rPr>
                        <a:t>395x faster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02124"/>
                          </a:solidFill>
                        </a:rPr>
                        <a:t>Cortex-A720 x8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8710A"/>
                          </a:solidFill>
                        </a:rPr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</a:rPr>
                        <a:t>51.70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</a:rPr>
                        <a:t>19.3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02124"/>
                          </a:solidFill>
                        </a:rPr>
                        <a:t>2,567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</a:rPr>
                        <a:t>178x faster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02124"/>
                          </a:solidFill>
                        </a:rPr>
                        <a:t>NVIDIA Orin AGX OFA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7B4FD1"/>
                          </a:solidFill>
                        </a:rPr>
                        <a:t>HW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</a:rPr>
                        <a:t>72.64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</a:rPr>
                        <a:t>13.8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02124"/>
                          </a:solidFill>
                        </a:rPr>
                        <a:t>1,827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</a:rPr>
                        <a:t>126x faster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02124"/>
                          </a:solidFill>
                        </a:rPr>
                        <a:t>Cortex-A78C x8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8710A"/>
                          </a:solidFill>
                        </a:rPr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</a:rPr>
                        <a:t>94.70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</a:rPr>
                        <a:t>10.6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02124"/>
                          </a:solidFill>
                        </a:rPr>
                        <a:t>1,401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</a:rPr>
                        <a:t>97x faster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02124"/>
                          </a:solidFill>
                        </a:rPr>
                        <a:t>Hexagon v73 NSP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2B5A5"/>
                          </a:solidFill>
                        </a:rPr>
                        <a:t>DSP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</a:rPr>
                        <a:t>136.84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</a:rPr>
                        <a:t>7.3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02124"/>
                          </a:solidFill>
                        </a:rPr>
                        <a:t>970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</a:rPr>
                        <a:t>67x faster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02124"/>
                          </a:solidFill>
                        </a:rPr>
                        <a:t>Mali-G720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C8BF5"/>
                          </a:solidFill>
                        </a:rPr>
                        <a:t>GPU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</a:rPr>
                        <a:t>256.00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</a:rPr>
                        <a:t>3.9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02124"/>
                          </a:solidFill>
                        </a:rPr>
                        <a:t>518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</a:rPr>
                        <a:t>36x faster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02124"/>
                          </a:solidFill>
                        </a:rPr>
                        <a:t>Cortex-A720 x1 @2.5GHz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8710A"/>
                          </a:solidFill>
                        </a:rPr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</a:rPr>
                        <a:t>313.60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02124"/>
                          </a:solidFill>
                        </a:rPr>
                        <a:t>423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</a:rPr>
                        <a:t>29x faster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02124"/>
                          </a:solidFill>
                        </a:rPr>
                        <a:t>Cortex-A78C 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8710A"/>
                          </a:solidFill>
                        </a:rPr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</a:rPr>
                        <a:t>332.22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</a:rP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02124"/>
                          </a:solidFill>
                        </a:rPr>
                        <a:t>399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</a:rPr>
                        <a:t>28x faster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02124"/>
                          </a:solidFill>
                        </a:rPr>
                        <a:t>Cortex-A55 x6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8710A"/>
                          </a:solidFill>
                        </a:rPr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</a:rPr>
                        <a:t>341.30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</a:rPr>
                        <a:t>2.9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02124"/>
                          </a:solidFill>
                        </a:rPr>
                        <a:t>389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</a:rPr>
                        <a:t>27x faster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02124"/>
                          </a:solidFill>
                        </a:rPr>
                        <a:t>Cortex-A55 x1 @1.8GHz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8710A"/>
                          </a:solidFill>
                        </a:rPr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</a:rPr>
                        <a:t>1,588.74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</a:rPr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02124"/>
                          </a:solidFill>
                        </a:rP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</a:rPr>
                        <a:t>6x faster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02124"/>
                          </a:solidFill>
                        </a:rPr>
                        <a:t>Mali-G310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C8BF5"/>
                          </a:solidFill>
                        </a:rPr>
                        <a:t>GPU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</a:rPr>
                        <a:t>1,846.00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</a:rP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02124"/>
                          </a:solidFill>
                        </a:rP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</a:rPr>
                        <a:t>5x faster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02124"/>
                          </a:solidFill>
                        </a:rPr>
                        <a:t>scalar 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9AA0A6"/>
                          </a:solidFill>
                        </a:rPr>
                        <a:t>REF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</a:rPr>
                        <a:t>9,188.00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</a:rPr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02124"/>
                          </a:solidFill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</a:rPr>
                        <a:t>1x faster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53212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4C8BF5"/>
                </a:solidFill>
                <a:latin typeface="Calibri"/>
              </a:rPr>
              <a:t>699x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368"/>
                </a:solidFill>
                <a:latin typeface="Calibri"/>
              </a:rPr>
              <a:t>faster than the scalar reference,</a:t>
            </a:r>
          </a:p>
          <a:p>
            <a:r>
              <a:rPr sz="1200">
                <a:solidFill>
                  <a:srgbClr val="5F6368"/>
                </a:solidFill>
                <a:latin typeface="Calibri"/>
              </a:rPr>
              <a:t>with byte-identical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79" y="553212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02124"/>
                </a:solidFill>
                <a:latin typeface="Calibri"/>
              </a:rPr>
              <a:t>10.4x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79" y="603504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368"/>
                </a:solidFill>
                <a:latin typeface="Calibri"/>
              </a:rPr>
              <a:t>the fastest published Arm-CPU SGM,</a:t>
            </a:r>
          </a:p>
          <a:p>
            <a:r>
              <a:rPr sz="1200">
                <a:solidFill>
                  <a:srgbClr val="5F6368"/>
                </a:solidFill>
                <a:latin typeface="Calibri"/>
              </a:rPr>
              <a:t>at matched D and matched path count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9" y="553212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02124"/>
                </a:solidFill>
                <a:latin typeface="Calibri"/>
              </a:rPr>
              <a:t>9 / 4 / 3 /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9" y="603504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368"/>
                </a:solidFill>
                <a:latin typeface="Calibri"/>
              </a:rPr>
              <a:t>targets / vendors / programming models</a:t>
            </a:r>
          </a:p>
          <a:p>
            <a:r>
              <a:rPr sz="1200">
                <a:solidFill>
                  <a:srgbClr val="5F6368"/>
                </a:solidFill>
                <a:latin typeface="Calibri"/>
              </a:rPr>
              <a:t>/ one golden hash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3796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F6368"/>
                </a:solidFill>
                <a:latin typeface="Calibri"/>
              </a:rPr>
              <a:t>MDE/s = W x H x D / runtime.  Valid for comparing implementations at a FIXED configuration; it is the wrong unit for CHOOSING one, because the optics fix 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4C8BF5"/>
                </a:solidFill>
                <a:latin typeface="Calibri"/>
              </a:rPr>
              <a:t>NVIDIA Thor GPU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F6368"/>
                </a:solidFill>
                <a:latin typeface="Calibri"/>
              </a:rPr>
              <a:t>Blackwell, 20 SM, CUDA 13.2, sm_110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02124"/>
                </a:solidFill>
                <a:latin typeface="Calibri"/>
              </a:rPr>
              <a:t>The calculation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02124"/>
                </a:solidFill>
                <a:latin typeface="Consolas"/>
              </a:rPr>
              <a:t>MDE/s  =  W x H x D / runtime
        =  1,920 x 1,080 x 64 / 13.19 ms
        =  132,710,400 disparity estimations / 0.01319 s
        =  10,061 million disparity estimations per second
frame rate  =  1000 / 13.19  =  75.8 fps
pixel rate  =  2.0736 Mpx x 75.8  =  157.21 Mpix/s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02124"/>
                </a:solidFill>
                <a:latin typeface="Calibri"/>
              </a:rPr>
              <a:t>What the measurement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805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02124"/>
                </a:solidFill>
                <a:latin typeface="Calibri"/>
              </a:rPr>
              <a:t>Rewritten warp-centric: one warp owns a scanline's whole disparity range,</a:t>
            </a:r>
          </a:p>
          <a:p>
            <a:r>
              <a:rPr sz="1300">
                <a:solidFill>
                  <a:srgbClr val="202124"/>
                </a:solidFill>
                <a:latin typeface="Calibri"/>
              </a:rPr>
              <a:t>L in registers, min-reduce by __shfl_xor, ZERO barriers in the recurrence.</a:t>
            </a:r>
          </a:p>
          <a:p>
            <a:r>
              <a:rPr sz="1300">
                <a:solidFill>
                  <a:srgbClr val="202124"/>
                </a:solidFill>
                <a:latin typeface="Calibri"/>
              </a:rPr>
              <a:t>2.69x over the naive OpenCL transliteration (35.39 -&gt; 13.19 ms).</a:t>
            </a:r>
          </a:p>
          <a:p>
            <a:r>
              <a:rPr sz="1300">
                <a:solidFill>
                  <a:srgbClr val="202124"/>
                </a:solidFill>
                <a:latin typeface="Calibri"/>
              </a:rPr>
              <a:t>MEMORY BOUND: aggregate moves 1.46 GB in 10.04 ms = 145 GB/s,</a:t>
            </a:r>
          </a:p>
          <a:p>
            <a:r>
              <a:rPr sz="1300">
                <a:solidFill>
                  <a:srgbClr val="202124"/>
                </a:solidFill>
                <a:latin typeface="Calibri"/>
              </a:rPr>
              <a:t>against a 247 GB/s copy ceiling measured on this same part.</a:t>
            </a:r>
          </a:p>
          <a:p>
            <a:r>
              <a:rPr sz="1300">
                <a:solidFill>
                  <a:srgbClr val="202124"/>
                </a:solidFill>
                <a:latin typeface="Calibri"/>
              </a:rPr>
              <a:t>Peak across the D sweep is 12,138 MDE/s at D=128; D=256 falls back to 9,409.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6368"/>
                </a:solidFill>
                <a:latin typeface="Calibri"/>
              </a:rPr>
              <a:t>MEASURED — median of the timed frames, golden hash verified in the same run.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4C8BF5"/>
                </a:solidFill>
                <a:latin typeface="Calibri"/>
              </a:rPr>
              <a:t>NVIDIA Orin AGX GPU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F6368"/>
                </a:solidFill>
                <a:latin typeface="Calibri"/>
              </a:rPr>
              <a:t>Ampere, 16 SM, CUDA 12.6, sm_87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02124"/>
                </a:solidFill>
                <a:latin typeface="Calibri"/>
              </a:rPr>
              <a:t>The calculation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02124"/>
                </a:solidFill>
                <a:latin typeface="Consolas"/>
              </a:rPr>
              <a:t>MDE/s  =  W x H x D / runtime
        =  1,920 x 1,080 x 64 / 23.28 ms
        =  132,710,400 disparity estimations / 0.02328 s
        =  5,701 million disparity estimations per second
frame rate  =  1000 / 23.28  =  43.0 fps
pixel rate  =  2.0736 Mpx x 43.0  =  89.07 Mpix/s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02124"/>
                </a:solidFill>
                <a:latin typeface="Calibri"/>
              </a:rPr>
              <a:t>What the measurement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805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02124"/>
                </a:solidFill>
                <a:latin typeface="Calibri"/>
              </a:rPr>
              <a:t>Same kernel, same changes: 3.10x over the naive port (72.27 -&gt; 23.28 ms).</a:t>
            </a:r>
          </a:p>
          <a:p>
            <a:r>
              <a:rPr sz="1300">
                <a:solidFill>
                  <a:srgbClr val="202124"/>
                </a:solidFill>
                <a:latin typeface="Calibri"/>
              </a:rPr>
              <a:t>Bit-exact on the first run, before any tuning — the payoff for porting a</a:t>
            </a:r>
          </a:p>
          <a:p>
            <a:r>
              <a:rPr sz="1300">
                <a:solidFill>
                  <a:srgbClr val="202124"/>
                </a:solidFill>
                <a:latin typeface="Calibri"/>
              </a:rPr>
              <a:t>verified OpenCL kernel one-for-one instead of writing a new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6368"/>
                </a:solidFill>
                <a:latin typeface="Calibri"/>
              </a:rPr>
              <a:t>MEASURED — median of the timed frames, golden hash verified in the same run.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4C8BF5"/>
                </a:solidFill>
                <a:latin typeface="Calibri"/>
              </a:rPr>
              <a:t>NVIDIA RTX 5090 GPU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F6368"/>
                </a:solidFill>
                <a:latin typeface="Calibri"/>
              </a:rPr>
              <a:t>Blackwell, 170 SM, discrete, 32 GB, driver 580.173  |  D=128: 4.09 ms  ·  D=256: 7.08 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02124"/>
                </a:solidFill>
                <a:latin typeface="Calibri"/>
              </a:rPr>
              <a:t>The calculation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02124"/>
                </a:solidFill>
                <a:latin typeface="Consolas"/>
              </a:rPr>
              <a:t>MDE/s  =  W x H x D / runtime
        =  1,920 x 1,080 x 64 / 3.55 ms
        =  132,710,400 disparity estimations / 0.00355 s
        =  37,383 million disparity estimations per second
frame rate  =  1000 / 3.55  =  281.7 fps
pixel rate  =  2.0736 Mpx x 281.7  =  584.11 Mpix/s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02124"/>
                </a:solidFill>
                <a:latin typeface="Calibri"/>
              </a:rPr>
              <a:t>What the measurement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805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02124"/>
                </a:solidFill>
                <a:latin typeface="Calibri"/>
              </a:rPr>
              <a:t>The fastest target measured: 37,383 MDE/s at D=64, 282 fps at 1080p.</a:t>
            </a:r>
          </a:p>
          <a:p>
            <a:r>
              <a:rPr sz="1300">
                <a:solidFill>
                  <a:srgbClr val="202124"/>
                </a:solidFill>
                <a:latin typeface="Calibri"/>
              </a:rPr>
              <a:t>64,880 MDE/s at D=128 and 74,957 at D=256 -- and unlike Thor it shows NO</a:t>
            </a:r>
          </a:p>
          <a:p>
            <a:r>
              <a:rPr sz="1300">
                <a:solidFill>
                  <a:srgbClr val="202124"/>
                </a:solidFill>
                <a:latin typeface="Calibri"/>
              </a:rPr>
              <a:t>reversal at D=256, which is what the traffic mechanism predicts on a part</a:t>
            </a:r>
          </a:p>
          <a:p>
            <a:r>
              <a:rPr sz="1300">
                <a:solidFill>
                  <a:srgbClr val="202124"/>
                </a:solidFill>
                <a:latin typeface="Calibri"/>
              </a:rPr>
              <a:t>with 5.6x the memory bandwidth.</a:t>
            </a:r>
          </a:p>
          <a:p>
            <a:r>
              <a:rPr sz="1300">
                <a:solidFill>
                  <a:srgbClr val="202124"/>
                </a:solidFill>
                <a:latin typeface="Calibri"/>
              </a:rPr>
              <a:t>Bandwidth: 587 GB/s achieved of a measured 1,385 GB/s ceiling = 42%, the</a:t>
            </a:r>
          </a:p>
          <a:p>
            <a:r>
              <a:rPr sz="1300">
                <a:solidFill>
                  <a:srgbClr val="202124"/>
                </a:solidFill>
                <a:latin typeface="Calibri"/>
              </a:rPr>
              <a:t>LOWEST utilisation of the three GPUs despite being the fastest -- so at this</a:t>
            </a:r>
          </a:p>
          <a:p>
            <a:r>
              <a:rPr sz="1300">
                <a:solidFill>
                  <a:srgbClr val="202124"/>
                </a:solidFill>
                <a:latin typeface="Calibri"/>
              </a:rPr>
              <a:t>speed it is no longer purely bandwidth-bound.</a:t>
            </a:r>
          </a:p>
          <a:p>
            <a:r>
              <a:rPr sz="1300">
                <a:solidFill>
                  <a:srgbClr val="202124"/>
                </a:solidFill>
                <a:latin typeface="Calibri"/>
              </a:rPr>
              <a:t>⚠️ Built as PTX and JIT-compiled by the driver: the local toolkit is CUDA</a:t>
            </a:r>
          </a:p>
          <a:p>
            <a:r>
              <a:rPr sz="1300">
                <a:solidFill>
                  <a:srgbClr val="202124"/>
                </a:solidFill>
                <a:latin typeface="Calibri"/>
              </a:rPr>
              <a:t>12.6, which cannot target sm_120. Golden verified, but not a native build.</a:t>
            </a:r>
          </a:p>
          <a:p>
            <a:r>
              <a:rPr sz="1300">
                <a:solidFill>
                  <a:srgbClr val="202124"/>
                </a:solidFill>
                <a:latin typeface="Calibri"/>
              </a:rPr>
              <a:t>⭐ IT HAS STEREO HARDWARE TOO, and it is NOT measured here: the driver's</a:t>
            </a:r>
          </a:p>
          <a:p>
            <a:r>
              <a:rPr sz="1300">
                <a:solidFill>
                  <a:srgbClr val="202124"/>
                </a:solidFill>
                <a:latin typeface="Calibri"/>
              </a:rPr>
              <a:t>optical-flow library exports NvOFAPICreateInstanceCuda and references</a:t>
            </a:r>
          </a:p>
          <a:p>
            <a:r>
              <a:rPr sz="1300">
                <a:solidFill>
                  <a:srgbClr val="202124"/>
                </a:solidFill>
                <a:latin typeface="Calibri"/>
              </a:rPr>
              <a:t>NV_OF_INIT_PARAMS::disparityRange. Driving it needs the Optical Flow SDK,</a:t>
            </a:r>
          </a:p>
          <a:p>
            <a:r>
              <a:rPr sz="1300">
                <a:solidFill>
                  <a:srgbClr val="202124"/>
                </a:solidFill>
                <a:latin typeface="Calibri"/>
              </a:rPr>
              <a:t>which is behind an NVIDIA developer login. Confirmed to exist, unmeasured.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6368"/>
                </a:solidFill>
                <a:latin typeface="Calibri"/>
              </a:rPr>
              <a:t>MEASURED — median of the timed frames, golden hash verified in the same run.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710A"/>
                </a:solidFill>
                <a:latin typeface="Calibri"/>
              </a:rPr>
              <a:t>Cortex-A720 x8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F6368"/>
                </a:solidFill>
                <a:latin typeface="Calibri"/>
              </a:rPr>
              <a:t>Radxa Orion O6, 2.2-2.5 GHz, NEON  |  single core: 313.60 ms = 423 MDE/s @2.5 GHz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02124"/>
                </a:solidFill>
                <a:latin typeface="Calibri"/>
              </a:rPr>
              <a:t>The calculation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02124"/>
                </a:solidFill>
                <a:latin typeface="Consolas"/>
              </a:rPr>
              <a:t>MDE/s  =  W x H x D / runtime
        =  1,920 x 1,080 x 64 / 51.70 ms
        =  132,710,400 disparity estimations / 0.05170 s
        =  2,567 million disparity estimations per second
frame rate  =  1000 / 51.70  =  19.3 fps
pixel rate  =  2.0736 Mpx x 19.3  =  40.11 Mpix/s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02124"/>
                </a:solidFill>
                <a:latin typeface="Calibri"/>
              </a:rPr>
              <a:t>What the measurement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805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02124"/>
                </a:solidFill>
                <a:latin typeface="Calibri"/>
              </a:rPr>
              <a:t>The CPU headline: 10.4x the fastest published Arm-CPU SGM at matched D</a:t>
            </a:r>
          </a:p>
          <a:p>
            <a:r>
              <a:rPr sz="1300">
                <a:solidFill>
                  <a:srgbClr val="202124"/>
                </a:solidFill>
                <a:latin typeface="Calibri"/>
              </a:rPr>
              <a:t>and matched path count (ReS2tAC, Sensors 21(11):3938, 2021 — 242 MDE/s).</a:t>
            </a:r>
          </a:p>
          <a:p>
            <a:r>
              <a:rPr sz="1300">
                <a:solidFill>
                  <a:srgbClr val="202124"/>
                </a:solidFill>
                <a:latin typeface="Calibri"/>
              </a:rPr>
              <a:t>Best single core measured at 423 MDE/s; scales monotonically 1-&gt;8 threads.</a:t>
            </a:r>
          </a:p>
          <a:p>
            <a:r>
              <a:rPr sz="1300">
                <a:solidFill>
                  <a:srgbClr val="202124"/>
                </a:solidFill>
                <a:latin typeface="Calibri"/>
              </a:rPr>
              <a:t>D=64 -&gt; D=128 is FLAT (-2.4%): 16 NEON lanes are already full at D=64.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6368"/>
                </a:solidFill>
                <a:latin typeface="Calibri"/>
              </a:rPr>
              <a:t>MEASURED — median of the timed frames, golden hash verified in the same run.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710A"/>
                </a:solidFill>
                <a:latin typeface="Calibri"/>
              </a:rPr>
              <a:t>Cortex-A78C x8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F6368"/>
                </a:solidFill>
                <a:latin typeface="Calibri"/>
              </a:rPr>
              <a:t>Qualcomm IQ-9075, NEON  |  single core: 332.22 ms = 400 MDE/s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02124"/>
                </a:solidFill>
                <a:latin typeface="Calibri"/>
              </a:rPr>
              <a:t>The calculation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02124"/>
                </a:solidFill>
                <a:latin typeface="Consolas"/>
              </a:rPr>
              <a:t>MDE/s  =  W x H x D / runtime
        =  1,920 x 1,080 x 64 / 94.70 ms
        =  132,710,400 disparity estimations / 0.09470 s
        =  1,401 million disparity estimations per second
frame rate  =  1000 / 94.70  =  10.6 fps
pixel rate  =  2.0736 Mpx x 10.6  =  21.90 Mpix/s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02124"/>
                </a:solidFill>
                <a:latin typeface="Calibri"/>
              </a:rPr>
              <a:t>What the measurement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805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02124"/>
                </a:solidFill>
                <a:latin typeface="Calibri"/>
              </a:rPr>
              <a:t>Ran THIS repository's a55 NEON implementation unmodified, on another</a:t>
            </a:r>
          </a:p>
          <a:p>
            <a:r>
              <a:rPr sz="1300">
                <a:solidFill>
                  <a:srgbClr val="202124"/>
                </a:solidFill>
                <a:latin typeface="Calibri"/>
              </a:rPr>
              <a:t>vendor's silicon, and reproduced the golden at every thread count.</a:t>
            </a:r>
          </a:p>
          <a:p>
            <a:r>
              <a:rPr sz="1300">
                <a:solidFill>
                  <a:srgbClr val="202124"/>
                </a:solidFill>
                <a:latin typeface="Calibri"/>
              </a:rPr>
              <a:t>Per-core 402 MDE/s vs the A720's 423 — a 5% gap between two wide</a:t>
            </a:r>
          </a:p>
          <a:p>
            <a:r>
              <a:rPr sz="1300">
                <a:solidFill>
                  <a:srgbClr val="202124"/>
                </a:solidFill>
                <a:latin typeface="Calibri"/>
              </a:rPr>
              <a:t>out-of-order Arm cores from different vendors on the same algorithm.</a:t>
            </a:r>
          </a:p>
          <a:p>
            <a:r>
              <a:rPr sz="1300">
                <a:solidFill>
                  <a:srgbClr val="202124"/>
                </a:solidFill>
                <a:latin typeface="Calibri"/>
              </a:rPr>
              <a:t>Peaks at SIX threads, not eight; 8 threads is slower on that board.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6368"/>
                </a:solidFill>
                <a:latin typeface="Calibri"/>
              </a:rPr>
              <a:t>MEASURED — median of the timed frames, golden hash verified in the same run.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2B5A5"/>
                </a:solidFill>
                <a:latin typeface="Calibri"/>
              </a:rPr>
              <a:t>Hexagon v73 NSP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F6368"/>
                </a:solidFill>
                <a:latin typeface="Calibri"/>
              </a:rPr>
              <a:t>Qualcomm IQ-9075, HVX, 4 HVX contexts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02124"/>
                </a:solidFill>
                <a:latin typeface="Calibri"/>
              </a:rPr>
              <a:t>The calculation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02124"/>
                </a:solidFill>
                <a:latin typeface="Consolas"/>
              </a:rPr>
              <a:t>MDE/s  =  W x H x D / runtime
        =  1,920 x 1,080 x 64 / 136.84 ms
        =  132,710,400 disparity estimations / 0.13684 s
        =  970 million disparity estimations per second
frame rate  =  1000 / 136.84  =  7.3 fps
pixel rate  =  2.0736 Mpx x 7.3  =  15.15 Mpix/s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02124"/>
                </a:solidFill>
                <a:latin typeface="Calibri"/>
              </a:rPr>
              <a:t>What the measurement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805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02124"/>
                </a:solidFill>
                <a:latin typeface="Calibri"/>
              </a:rPr>
              <a:t>Went 18.7x -&gt; 12.8x -&gt; 1.45x slower than the A78C cluster IN ONE DAY,</a:t>
            </a:r>
          </a:p>
          <a:p>
            <a:r>
              <a:rPr sz="1300">
                <a:solidFill>
                  <a:srgbClr val="202124"/>
                </a:solidFill>
                <a:latin typeface="Calibri"/>
              </a:rPr>
              <a:t>with nothing retracted, because the ratio was always labelled a FLOOR</a:t>
            </a:r>
          </a:p>
          <a:p>
            <a:r>
              <a:rPr sz="1300">
                <a:solidFill>
                  <a:srgbClr val="202124"/>
                </a:solidFill>
                <a:latin typeface="Calibri"/>
              </a:rPr>
              <a:t>OF EFFORT rather than the DSP's ceiling.</a:t>
            </a:r>
          </a:p>
          <a:p>
            <a:r>
              <a:rPr sz="1300">
                <a:solidFill>
                  <a:srgbClr val="202124"/>
                </a:solidFill>
                <a:latin typeface="Calibri"/>
              </a:rPr>
              <a:t>BEATS A SINGLE A78C CORE BY 2.40x.</a:t>
            </a:r>
          </a:p>
          <a:p>
            <a:r>
              <a:rPr sz="1300">
                <a:solidFill>
                  <a:srgbClr val="202124"/>
                </a:solidFill>
                <a:latin typeface="Calibri"/>
              </a:rPr>
              <a:t>Six hardware threads but only FOUR HVX contexts, so 4 threads is optimal.</a:t>
            </a:r>
          </a:p>
          <a:p>
            <a:r>
              <a:rPr sz="1300">
                <a:solidFill>
                  <a:srgbClr val="202124"/>
                </a:solidFill>
                <a:latin typeface="Calibri"/>
              </a:rPr>
              <a:t>Still latency-bound at 6.8 of 28 GB/s — a different wall to Thor's.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6368"/>
                </a:solidFill>
                <a:latin typeface="Calibri"/>
              </a:rPr>
              <a:t>MEASURED — median of the timed frames, golden hash verified in the same run.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4C8BF5"/>
                </a:solidFill>
                <a:latin typeface="Calibri"/>
              </a:rPr>
              <a:t>Mali-G720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F6368"/>
                </a:solidFill>
                <a:latin typeface="Calibri"/>
              </a:rPr>
              <a:t>Immortalis, 10 CU, OpenCL 3.0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02124"/>
                </a:solidFill>
                <a:latin typeface="Calibri"/>
              </a:rPr>
              <a:t>The calculation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02124"/>
                </a:solidFill>
                <a:latin typeface="Consolas"/>
              </a:rPr>
              <a:t>MDE/s  =  W x H x D / runtime
        =  1,920 x 1,080 x 64 / 256.00 ms
        =  132,710,400 disparity estimations / 0.25600 s
        =  518 million disparity estimations per second
frame rate  =  1000 / 256.00  =  3.9 fps
pixel rate  =  2.0736 Mpx x 3.9  =  8.10 Mpix/s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02124"/>
                </a:solidFill>
                <a:latin typeface="Calibri"/>
              </a:rPr>
              <a:t>What the measurement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805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02124"/>
                </a:solidFill>
                <a:latin typeface="Calibri"/>
              </a:rPr>
              <a:t>Loses to TWO A720 cores. But this is an UNBOUNDED FLOOR, not a verdict</a:t>
            </a:r>
          </a:p>
          <a:p>
            <a:r>
              <a:rPr sz="1300">
                <a:solidFill>
                  <a:srgbClr val="202124"/>
                </a:solidFill>
                <a:latin typeface="Calibri"/>
              </a:rPr>
              <a:t>on the hardware: the kernel carries ONE dependency chain per work-item</a:t>
            </a:r>
          </a:p>
          <a:p>
            <a:r>
              <a:rPr sz="1300">
                <a:solidFill>
                  <a:srgbClr val="202124"/>
                </a:solidFill>
                <a:latin typeface="Calibri"/>
              </a:rPr>
              <a:t>with three barrier sites per step and never interleaves chains.</a:t>
            </a:r>
          </a:p>
          <a:p>
            <a:r>
              <a:rPr sz="1300">
                <a:solidFill>
                  <a:srgbClr val="202124"/>
                </a:solidFill>
                <a:latin typeface="Calibri"/>
              </a:rPr>
              <a:t>Nobody has done for this part what was done for the DSP.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6368"/>
                </a:solidFill>
                <a:latin typeface="Calibri"/>
              </a:rPr>
              <a:t>MEASURED — median of the timed frames, golden hash verified in the same run.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7B4FD1"/>
                </a:solidFill>
                <a:latin typeface="Calibri"/>
              </a:rPr>
              <a:t>NVIDIA Thor OFA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F6368"/>
                </a:solidFill>
                <a:latin typeface="Calibri"/>
              </a:rPr>
              <a:t>Fixed-function SGM engine (Optical Flow Accelerator), VPI 4.1.4  |  1080p D=128, downscaleFactor=1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02124"/>
                </a:solidFill>
                <a:latin typeface="Calibri"/>
              </a:rPr>
              <a:t>The calculation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02124"/>
                </a:solidFill>
                <a:latin typeface="Consolas"/>
              </a:rPr>
              <a:t>MDE/s  =  W x H x D / runtime
        =  1,920 x 1,080 x 64 / 9.35 ms
        =  132,710,400 disparity estimations / 0.00935 s
        =  14,201 million disparity estimations per second
frame rate  =  1000 / 9.35  =  107.0 fps
pixel rate  =  2.0736 Mpx x 107.0  =  221.89 Mpix/s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02124"/>
                </a:solidFill>
                <a:latin typeface="Calibri"/>
              </a:rPr>
              <a:t>What the measurement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805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02124"/>
                </a:solidFill>
                <a:latin typeface="Calibri"/>
              </a:rPr>
              <a:t>DEDICATED STEREO HARDWARE, and it beats our tuned CUDA on the same chip</a:t>
            </a:r>
          </a:p>
          <a:p>
            <a:r>
              <a:rPr sz="1300">
                <a:solidFill>
                  <a:srgbClr val="202124"/>
                </a:solidFill>
                <a:latin typeface="Calibri"/>
              </a:rPr>
              <a:t>by 2.34x (9.35 ms vs 21.86 ms at 1920x1080 D=128).</a:t>
            </a:r>
          </a:p>
          <a:p>
            <a:r>
              <a:rPr sz="1300">
                <a:solidFill>
                  <a:srgbClr val="202124"/>
                </a:solidFill>
                <a:latin typeface="Calibri"/>
              </a:rPr>
              <a:t>NOT bit-exact to our golden: VPI's SGM is a different implementation with</a:t>
            </a:r>
          </a:p>
          <a:p>
            <a:r>
              <a:rPr sz="1300">
                <a:solidFill>
                  <a:srgbClr val="202124"/>
                </a:solidFill>
                <a:latin typeface="Calibri"/>
              </a:rPr>
              <a:t>its own census, penalties and confidence output. Throughput comparison at</a:t>
            </a:r>
          </a:p>
          <a:p>
            <a:r>
              <a:rPr sz="1300">
                <a:solidFill>
                  <a:srgbClr val="202124"/>
                </a:solidFill>
                <a:latin typeface="Calibri"/>
              </a:rPr>
              <a:t>matched resolution and D -- NOT the same test, and NOT a quality claim.</a:t>
            </a:r>
          </a:p>
          <a:p>
            <a:r>
              <a:rPr sz="1300">
                <a:solidFill>
                  <a:srgbClr val="202124"/>
                </a:solidFill>
                <a:latin typeface="Calibri"/>
              </a:rPr>
              <a:t>🔴 ACCURACY WITHDRAWN. Scored against ground truth our SGM gets 2.6% bad&gt;1px</a:t>
            </a:r>
          </a:p>
          <a:p>
            <a:r>
              <a:rPr sz="1300">
                <a:solidFill>
                  <a:srgbClr val="202124"/>
                </a:solidFill>
                <a:latin typeface="Calibri"/>
              </a:rPr>
              <a:t>(MAE 0.45); OFA aligns under no simple descaling, so its accuracy is</a:t>
            </a:r>
          </a:p>
          <a:p>
            <a:r>
              <a:rPr sz="1300">
                <a:solidFill>
                  <a:srgbClr val="202124"/>
                </a:solidFill>
                <a:latin typeface="Calibri"/>
              </a:rPr>
              <a:t>UNMEASURED and this 2.34x is throughput only.</a:t>
            </a:r>
          </a:p>
          <a:p>
            <a:r>
              <a:rPr sz="1300">
                <a:solidFill>
                  <a:srgbClr val="202124"/>
                </a:solidFill>
                <a:latin typeface="Calibri"/>
              </a:rPr>
              <a:t>VPI defaults to includeDiagonals=1, so OFA ran 8 paths against our 4. Measured,</a:t>
            </a:r>
          </a:p>
          <a:p>
            <a:r>
              <a:rPr sz="1300">
                <a:solidFill>
                  <a:srgbClr val="202124"/>
                </a:solidFill>
                <a:latin typeface="Calibri"/>
              </a:rPr>
              <a:t>not assumed: OFA costs 9.42 ms at 8 paths and 9.85 at 4 -- path-count</a:t>
            </a:r>
          </a:p>
          <a:p>
            <a:r>
              <a:rPr sz="1300">
                <a:solidFill>
                  <a:srgbClr val="202124"/>
                </a:solidFill>
                <a:latin typeface="Calibri"/>
              </a:rPr>
              <a:t>independent. The timing stands and OFA delivers an 8-path result in our time.</a:t>
            </a:r>
          </a:p>
          <a:p>
            <a:r>
              <a:rPr sz="1300">
                <a:solidFill>
                  <a:srgbClr val="202124"/>
                </a:solidFill>
                <a:latin typeface="Calibri"/>
              </a:rPr>
              <a:t>⚠️ It defaults to downscaleFactor=2, which emits a 960x540 map from 1080p</a:t>
            </a:r>
          </a:p>
          <a:p>
            <a:r>
              <a:rPr sz="1300">
                <a:solidFill>
                  <a:srgbClr val="202124"/>
                </a:solidFill>
                <a:latin typeface="Calibri"/>
              </a:rPr>
              <a:t>input in 4.14 ms. Quoting that as a 1080p figure overstates it by 2.3x.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6368"/>
                </a:solidFill>
                <a:latin typeface="Calibri"/>
              </a:rPr>
              <a:t>MEASURED — median of the timed frames, golden hash verified in the same run.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7B4FD1"/>
                </a:solidFill>
                <a:latin typeface="Calibri"/>
              </a:rPr>
              <a:t>NVIDIA Orin AGX OFA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F6368"/>
                </a:solidFill>
                <a:latin typeface="Calibri"/>
              </a:rPr>
              <a:t>Fixed-function SGM engine, VPI 3.2.4  |  1080p D=128, downscaleFactor=1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02124"/>
                </a:solidFill>
                <a:latin typeface="Calibri"/>
              </a:rPr>
              <a:t>The calculation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02124"/>
                </a:solidFill>
                <a:latin typeface="Consolas"/>
              </a:rPr>
              <a:t>MDE/s  =  W x H x D / runtime
        =  1,920 x 1,080 x 64 / 72.64 ms
        =  132,710,400 disparity estimations / 0.07264 s
        =  1,827 million disparity estimations per second
frame rate  =  1000 / 72.64  =  13.8 fps
pixel rate  =  2.0736 Mpx x 13.8  =  28.55 Mpix/s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02124"/>
                </a:solidFill>
                <a:latin typeface="Calibri"/>
              </a:rPr>
              <a:t>What the measurement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805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02124"/>
                </a:solidFill>
                <a:latin typeface="Calibri"/>
              </a:rPr>
              <a:t>The same fixed-function engine one generation earlier, and here it LOSES:</a:t>
            </a:r>
          </a:p>
          <a:p>
            <a:r>
              <a:rPr sz="1300">
                <a:solidFill>
                  <a:srgbClr val="202124"/>
                </a:solidFill>
                <a:latin typeface="Calibri"/>
              </a:rPr>
              <a:t>our CUDA kernel does the same work in 33.16 ms against the hardware's 72.64.</a:t>
            </a:r>
          </a:p>
          <a:p>
            <a:r>
              <a:rPr sz="1300">
                <a:solidFill>
                  <a:srgbClr val="202124"/>
                </a:solidFill>
                <a:latin typeface="Calibri"/>
              </a:rPr>
              <a:t>Software wins by 2.19x on the silicon built for this exact job.</a:t>
            </a:r>
          </a:p>
          <a:p>
            <a:r>
              <a:rPr sz="1300">
                <a:solidFill>
                  <a:srgbClr val="202124"/>
                </a:solidFill>
                <a:latin typeface="Calibri"/>
              </a:rPr>
              <a:t>Thor's OFA is 7.8x faster than Orin's at identical settings -- a far larger</a:t>
            </a:r>
          </a:p>
          <a:p>
            <a:r>
              <a:rPr sz="1300">
                <a:solidFill>
                  <a:srgbClr val="202124"/>
                </a:solidFill>
                <a:latin typeface="Calibri"/>
              </a:rPr>
              <a:t>generational jump than the 1.5x between the two GPUs.</a:t>
            </a:r>
          </a:p>
          <a:p>
            <a:r>
              <a:rPr sz="1300">
                <a:solidFill>
                  <a:srgbClr val="202124"/>
                </a:solidFill>
                <a:latin typeface="Calibri"/>
              </a:rPr>
              <a:t>Taken together these two rows are the interesting result: whether dedicated</a:t>
            </a:r>
          </a:p>
          <a:p>
            <a:r>
              <a:rPr sz="1300">
                <a:solidFill>
                  <a:srgbClr val="202124"/>
                </a:solidFill>
                <a:latin typeface="Calibri"/>
              </a:rPr>
              <a:t>hardware beats a tuned kernel is a property of the generation, not of the</a:t>
            </a:r>
          </a:p>
          <a:p>
            <a:r>
              <a:rPr sz="1300">
                <a:solidFill>
                  <a:srgbClr val="202124"/>
                </a:solidFill>
                <a:latin typeface="Calibri"/>
              </a:rPr>
              <a:t>idea of dedicated hardware.</a:t>
            </a:r>
          </a:p>
          <a:p>
            <a:r>
              <a:rPr sz="1300">
                <a:solidFill>
                  <a:srgbClr val="202124"/>
                </a:solidFill>
                <a:latin typeface="Calibri"/>
              </a:rPr>
              <a:t>Same caveats as the Thor row: not bit-exact, accuracy unmeasured, and the</a:t>
            </a:r>
          </a:p>
          <a:p>
            <a:r>
              <a:rPr sz="1300">
                <a:solidFill>
                  <a:srgbClr val="202124"/>
                </a:solidFill>
                <a:latin typeface="Calibri"/>
              </a:rPr>
              <a:t>timed region excludes format conversion where ours is end-to-end (&lt;5%).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6368"/>
                </a:solidFill>
                <a:latin typeface="Calibri"/>
              </a:rPr>
              <a:t>MEASURED — median of the timed frames, golden hash verified in the same run.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710A"/>
                </a:solidFill>
                <a:latin typeface="Calibri"/>
              </a:rPr>
              <a:t>Cortex-A55 x6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F6368"/>
                </a:solidFill>
                <a:latin typeface="Calibri"/>
              </a:rPr>
              <a:t>i.MX 95 FRDM, 1.8 GHz, NEON  |  single core: 1,588.74 ms = 84 MDE/s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02124"/>
                </a:solidFill>
                <a:latin typeface="Calibri"/>
              </a:rPr>
              <a:t>The calculation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02124"/>
                </a:solidFill>
                <a:latin typeface="Consolas"/>
              </a:rPr>
              <a:t>MDE/s  =  W x H x D / runtime
        =  1,920 x 1,080 x 64 / 341.30 ms
        =  132,710,400 disparity estimations / 0.34130 s
        =  389 million disparity estimations per second
frame rate  =  1000 / 341.30  =  2.9 fps
pixel rate  =  2.0736 Mpx x 2.9  =  6.08 Mpix/s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02124"/>
                </a:solidFill>
                <a:latin typeface="Calibri"/>
              </a:rPr>
              <a:t>What the measurement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805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02124"/>
                </a:solidFill>
                <a:latin typeface="Calibri"/>
              </a:rPr>
              <a:t>The reference platform this project is anchored to, and the slowest CPU here.</a:t>
            </a:r>
          </a:p>
          <a:p>
            <a:r>
              <a:rPr sz="1300">
                <a:solidFill>
                  <a:srgbClr val="202124"/>
                </a:solidFill>
                <a:latin typeface="Calibri"/>
              </a:rPr>
              <a:t>Scales 4.65x from 1 to 6 cores (1,588.74 -&gt; 341.30 ms) -- that spread is also</a:t>
            </a:r>
          </a:p>
          <a:p>
            <a:r>
              <a:rPr sz="1300">
                <a:solidFill>
                  <a:srgbClr val="202124"/>
                </a:solidFill>
                <a:latin typeface="Calibri"/>
              </a:rPr>
              <a:t>the proof that the -t thread flag was working on these runs, since the inert</a:t>
            </a:r>
          </a:p>
          <a:p>
            <a:r>
              <a:rPr sz="1300">
                <a:solidFill>
                  <a:srgbClr val="202124"/>
                </a:solidFill>
                <a:latin typeface="Calibri"/>
              </a:rPr>
              <a:t>flag it was found to have would have collapsed every count to one timing.</a:t>
            </a:r>
          </a:p>
          <a:p>
            <a:r>
              <a:rPr sz="1300">
                <a:solidFill>
                  <a:srgbClr val="202124"/>
                </a:solidFill>
                <a:latin typeface="Calibri"/>
              </a:rPr>
              <a:t>Per core 84 MDE/s against the A720's 423: a 5.0x gap between an in-order</a:t>
            </a:r>
          </a:p>
          <a:p>
            <a:r>
              <a:rPr sz="1300">
                <a:solidFill>
                  <a:srgbClr val="202124"/>
                </a:solidFill>
                <a:latin typeface="Calibri"/>
              </a:rPr>
              <a:t>little core at 1.8 GHz and a wide out-of-order core at 2.5 GHz.</a:t>
            </a:r>
          </a:p>
          <a:p>
            <a:r>
              <a:rPr sz="1300">
                <a:solidFill>
                  <a:srgbClr val="202124"/>
                </a:solidFill>
                <a:latin typeface="Calibri"/>
              </a:rPr>
              <a:t>Block-width optimum is 192 here and 256 on the A720 -- not the same number.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6368"/>
                </a:solidFill>
                <a:latin typeface="Calibri"/>
              </a:rPr>
              <a:t>MEASURED — median of the timed frames, golden hash verified in the same run.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4C8BF5"/>
                </a:solidFill>
                <a:latin typeface="Calibri"/>
              </a:rPr>
              <a:t>Mali-G310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F6368"/>
                </a:solidFill>
                <a:latin typeface="Calibri"/>
              </a:rPr>
              <a:t>1 CU, OpenCL 3.0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02124"/>
                </a:solidFill>
                <a:latin typeface="Calibri"/>
              </a:rPr>
              <a:t>The calculation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02124"/>
                </a:solidFill>
                <a:latin typeface="Consolas"/>
              </a:rPr>
              <a:t>MDE/s  =  W x H x D / runtime
        =  1,920 x 1,080 x 64 / 1,846.00 ms
        =  132,710,400 disparity estimations / 1.84600 s
        =  72 million disparity estimations per second
frame rate  =  1000 / 1,846.00  =  0.5 fps
pixel rate  =  2.0736 Mpx x 0.5  =  1.12 Mpix/s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02124"/>
                </a:solidFill>
                <a:latin typeface="Calibri"/>
              </a:rPr>
              <a:t>What the measurement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805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02124"/>
                </a:solidFill>
                <a:latin typeface="Calibri"/>
              </a:rPr>
              <a:t>The entry-tier part, same kernel, same hash. Its 'no compute driver'</a:t>
            </a:r>
          </a:p>
          <a:p>
            <a:r>
              <a:rPr sz="1300">
                <a:solidFill>
                  <a:srgbClr val="202124"/>
                </a:solidFill>
                <a:latin typeface="Calibri"/>
              </a:rPr>
              <a:t>reputation is wrong — it ships working OpenCL 3.0 and merely lacks clinfo.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6368"/>
                </a:solidFill>
                <a:latin typeface="Calibri"/>
              </a:rPr>
              <a:t>MEASURED — median of the timed frames, golden hash verified in the same run.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9AA0A6"/>
                </a:solidFill>
                <a:latin typeface="Calibri"/>
              </a:rPr>
              <a:t>scalar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F6368"/>
                </a:solidFill>
                <a:latin typeface="Calibri"/>
              </a:rPr>
              <a:t>1x Cortex-A55, -O2, no SIMD, single thread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02124"/>
                </a:solidFill>
                <a:latin typeface="Calibri"/>
              </a:rPr>
              <a:t>The calculation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02124"/>
                </a:solidFill>
                <a:latin typeface="Consolas"/>
              </a:rPr>
              <a:t>MDE/s  =  W x H x D / runtime
        =  1,920 x 1,080 x 64 / 9,188.00 ms
        =  132,710,400 disparity estimations / 9.18800 s
        =  14 million disparity estimations per second
frame rate  =  1000 / 9,188.00  =  0.1 fps
pixel rate  =  2.0736 Mpx x 0.1  =  0.23 Mpix/s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02124"/>
                </a:solidFill>
                <a:latin typeface="Calibri"/>
              </a:rPr>
              <a:t>What the measurement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805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02124"/>
                </a:solidFill>
                <a:latin typeface="Calibri"/>
              </a:rPr>
              <a:t>Deliberately boring: the oracle every other bar is checked against.</a:t>
            </a:r>
          </a:p>
          <a:p>
            <a:r>
              <a:rPr sz="1300">
                <a:solidFill>
                  <a:srgbClr val="202124"/>
                </a:solidFill>
                <a:latin typeface="Calibri"/>
              </a:rPr>
              <a:t>It defines the golden hash, so it cannot be wrong by construction —</a:t>
            </a:r>
          </a:p>
          <a:p>
            <a:r>
              <a:rPr sz="1300">
                <a:solidFill>
                  <a:srgbClr val="202124"/>
                </a:solidFill>
                <a:latin typeface="Calibri"/>
              </a:rPr>
              <a:t>it can only be slow, and it is 699x slower than the fastest bar.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6368"/>
                </a:solidFill>
                <a:latin typeface="Calibri"/>
              </a:rPr>
              <a:t>MEASURED — median of the timed frames, golden hash verified in the same run.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