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Semi-Global Matching across eleven processing units</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400" b="0">
                <a:solidFill>
                  <a:srgbClr val="5F6368"/>
                </a:solidFill>
                <a:latin typeface="Calibri"/>
              </a:rPr>
              <a:t>1920x1080  ·  D=64  ·  4 paths  ·  9x7 census  ·  every row bit-exact to golden 0bc0102058d1505f</a:t>
            </a:r>
          </a:p>
        </p:txBody>
      </p:sp>
      <p:graphicFrame>
        <p:nvGraphicFramePr>
          <p:cNvPr id="4" name="Table 3"/>
          <p:cNvGraphicFramePr>
            <a:graphicFrameLocks noGrp="1"/>
          </p:cNvGraphicFramePr>
          <p:nvPr/>
        </p:nvGraphicFramePr>
        <p:xfrm>
          <a:off x="548640" y="1572768"/>
          <a:ext cx="11064240" cy="3950208"/>
        </p:xfrm>
        <a:graphic>
          <a:graphicData uri="http://schemas.openxmlformats.org/drawingml/2006/table">
            <a:tbl>
              <a:tblPr firstRow="1" bandRow="1">
                <a:tableStyleId>{5C22544A-7EE6-4342-B048-85BDC9FD1C3A}</a:tableStyleId>
              </a:tblPr>
              <a:tblGrid>
                <a:gridCol w="3017520"/>
                <a:gridCol w="822960"/>
                <a:gridCol w="1554480"/>
                <a:gridCol w="1005840"/>
                <a:gridCol w="1371600"/>
                <a:gridCol w="1463040"/>
                <a:gridCol w="1828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46888">
                <a:tc>
                  <a:txBody>
                    <a:bodyPr/>
                    <a:lstStyle/>
                    <a:p>
                      <a:r>
                        <a:rPr sz="1100" b="1">
                          <a:solidFill>
                            <a:srgbClr val="202124"/>
                          </a:solidFill>
                        </a:rPr>
                        <a:t>NVIDIA RTX 5090 GPU</a:t>
                      </a:r>
                    </a:p>
                  </a:txBody>
                  <a:tcPr/>
                </a:tc>
                <a:tc>
                  <a:txBody>
                    <a:bodyPr/>
                    <a:lstStyle/>
                    <a:p>
                      <a:r>
                        <a:rPr sz="1100" b="1">
                          <a:solidFill>
                            <a:srgbClr val="4C8BF5"/>
                          </a:solidFill>
                        </a:rPr>
                        <a:t>GPU</a:t>
                      </a:r>
                    </a:p>
                  </a:txBody>
                  <a:tcPr/>
                </a:tc>
                <a:tc>
                  <a:txBody>
                    <a:bodyPr/>
                    <a:lstStyle/>
                    <a:p>
                      <a:r>
                        <a:rPr sz="1100" b="0">
                          <a:solidFill>
                            <a:srgbClr val="202124"/>
                          </a:solidFill>
                        </a:rPr>
                        <a:t>3.46 ms</a:t>
                      </a:r>
                    </a:p>
                  </a:txBody>
                  <a:tcPr/>
                </a:tc>
                <a:tc>
                  <a:txBody>
                    <a:bodyPr/>
                    <a:lstStyle/>
                    <a:p>
                      <a:r>
                        <a:rPr sz="1100" b="0">
                          <a:solidFill>
                            <a:srgbClr val="202124"/>
                          </a:solidFill>
                        </a:rPr>
                        <a:t>289.0</a:t>
                      </a:r>
                    </a:p>
                  </a:txBody>
                  <a:tcPr/>
                </a:tc>
                <a:tc>
                  <a:txBody>
                    <a:bodyPr/>
                    <a:lstStyle/>
                    <a:p>
                      <a:r>
                        <a:rPr sz="1100" b="1">
                          <a:solidFill>
                            <a:srgbClr val="202124"/>
                          </a:solidFill>
                        </a:rPr>
                        <a:t>38,356</a:t>
                      </a:r>
                    </a:p>
                  </a:txBody>
                  <a:tcPr/>
                </a:tc>
                <a:tc>
                  <a:txBody>
                    <a:bodyPr/>
                    <a:lstStyle/>
                    <a:p>
                      <a:r>
                        <a:rPr sz="1100" b="0">
                          <a:solidFill>
                            <a:srgbClr val="202124"/>
                          </a:solidFill>
                        </a:rPr>
                        <a:t>587 / 1,385</a:t>
                      </a:r>
                    </a:p>
                  </a:txBody>
                  <a:tcPr/>
                </a:tc>
                <a:tc>
                  <a:txBody>
                    <a:bodyPr/>
                    <a:lstStyle/>
                    <a:p>
                      <a:r>
                        <a:rPr sz="1100" b="0">
                          <a:solidFill>
                            <a:srgbClr val="202124"/>
                          </a:solidFill>
                        </a:rPr>
                        <a:t>2,655x faster</a:t>
                      </a:r>
                    </a:p>
                  </a:txBody>
                  <a:tcPr/>
                </a:tc>
              </a:tr>
              <a:tr h="246888">
                <a:tc>
                  <a:txBody>
                    <a:bodyPr/>
                    <a:lstStyle/>
                    <a:p>
                      <a:r>
                        <a:rPr sz="1100" b="1">
                          <a:solidFill>
                            <a:srgbClr val="202124"/>
                          </a:solidFill>
                        </a:rPr>
                        <a:t>NVIDIA Thor OFA</a:t>
                      </a:r>
                    </a:p>
                  </a:txBody>
                  <a:tcPr/>
                </a:tc>
                <a:tc>
                  <a:txBody>
                    <a:bodyPr/>
                    <a:lstStyle/>
                    <a:p>
                      <a:r>
                        <a:rPr sz="1100" b="1">
                          <a:solidFill>
                            <a:srgbClr val="7B4FD1"/>
                          </a:solidFill>
                        </a:rPr>
                        <a:t>HW</a:t>
                      </a:r>
                    </a:p>
                  </a:txBody>
                  <a:tcPr/>
                </a:tc>
                <a:tc>
                  <a:txBody>
                    <a:bodyPr/>
                    <a:lstStyle/>
                    <a:p>
                      <a:r>
                        <a:rPr sz="1100" b="0">
                          <a:solidFill>
                            <a:srgbClr val="202124"/>
                          </a:solidFill>
                        </a:rPr>
                        <a:t>9.35 ms (D=128)</a:t>
                      </a:r>
                    </a:p>
                  </a:txBody>
                  <a:tcPr/>
                </a:tc>
                <a:tc>
                  <a:txBody>
                    <a:bodyPr/>
                    <a:lstStyle/>
                    <a:p>
                      <a:r>
                        <a:rPr sz="1100" b="0">
                          <a:solidFill>
                            <a:srgbClr val="202124"/>
                          </a:solidFill>
                        </a:rPr>
                        <a:t>107.0</a:t>
                      </a:r>
                    </a:p>
                  </a:txBody>
                  <a:tcPr/>
                </a:tc>
                <a:tc>
                  <a:txBody>
                    <a:bodyPr/>
                    <a:lstStyle/>
                    <a:p>
                      <a:r>
                        <a:rPr sz="1100" b="1">
                          <a:solidFill>
                            <a:srgbClr val="202124"/>
                          </a:solidFill>
                        </a:rPr>
                        <a:t>28,402</a:t>
                      </a:r>
                    </a:p>
                  </a:txBody>
                  <a:tcPr/>
                </a:tc>
                <a:tc>
                  <a:txBody>
                    <a:bodyPr/>
                    <a:lstStyle/>
                    <a:p>
                      <a:r>
                        <a:rPr sz="1100" b="0">
                          <a:solidFill>
                            <a:srgbClr val="202124"/>
                          </a:solidFill>
                        </a:rPr>
                        <a:t>—</a:t>
                      </a:r>
                    </a:p>
                  </a:txBody>
                  <a:tcPr/>
                </a:tc>
                <a:tc>
                  <a:txBody>
                    <a:bodyPr/>
                    <a:lstStyle/>
                    <a:p>
                      <a:r>
                        <a:rPr sz="1100" b="0">
                          <a:solidFill>
                            <a:srgbClr val="202124"/>
                          </a:solidFill>
                        </a:rPr>
                        <a:t>983x (time only)</a:t>
                      </a:r>
                    </a:p>
                  </a:txBody>
                  <a:tcPr/>
                </a:tc>
              </a:tr>
              <a:tr h="246888">
                <a:tc>
                  <a:txBody>
                    <a:bodyPr/>
                    <a:lstStyle/>
                    <a:p>
                      <a:r>
                        <a:rPr sz="1100" b="1">
                          <a:solidFill>
                            <a:srgbClr val="202124"/>
                          </a:solidFill>
                        </a:rPr>
                        <a:t>NVIDIA Thor GPU</a:t>
                      </a:r>
                    </a:p>
                  </a:txBody>
                  <a:tcPr/>
                </a:tc>
                <a:tc>
                  <a:txBody>
                    <a:bodyPr/>
                    <a:lstStyle/>
                    <a:p>
                      <a:r>
                        <a:rPr sz="1100" b="1">
                          <a:solidFill>
                            <a:srgbClr val="4C8BF5"/>
                          </a:solidFill>
                        </a:rPr>
                        <a:t>GPU</a:t>
                      </a:r>
                    </a:p>
                  </a:txBody>
                  <a:tcPr/>
                </a:tc>
                <a:tc>
                  <a:txBody>
                    <a:bodyPr/>
                    <a:lstStyle/>
                    <a:p>
                      <a:r>
                        <a:rPr sz="1100" b="0">
                          <a:solidFill>
                            <a:srgbClr val="202124"/>
                          </a:solidFill>
                        </a:rPr>
                        <a:t>13.19 ms</a:t>
                      </a:r>
                    </a:p>
                  </a:txBody>
                  <a:tcPr/>
                </a:tc>
                <a:tc>
                  <a:txBody>
                    <a:bodyPr/>
                    <a:lstStyle/>
                    <a:p>
                      <a:r>
                        <a:rPr sz="1100" b="0">
                          <a:solidFill>
                            <a:srgbClr val="202124"/>
                          </a:solidFill>
                        </a:rPr>
                        <a:t>75.8</a:t>
                      </a:r>
                    </a:p>
                  </a:txBody>
                  <a:tcPr/>
                </a:tc>
                <a:tc>
                  <a:txBody>
                    <a:bodyPr/>
                    <a:lstStyle/>
                    <a:p>
                      <a:r>
                        <a:rPr sz="1100" b="1">
                          <a:solidFill>
                            <a:srgbClr val="202124"/>
                          </a:solidFill>
                        </a:rPr>
                        <a:t>10,061</a:t>
                      </a:r>
                    </a:p>
                  </a:txBody>
                  <a:tcPr/>
                </a:tc>
                <a:tc>
                  <a:txBody>
                    <a:bodyPr/>
                    <a:lstStyle/>
                    <a:p>
                      <a:r>
                        <a:rPr sz="1100" b="0">
                          <a:solidFill>
                            <a:srgbClr val="202124"/>
                          </a:solidFill>
                        </a:rPr>
                        <a:t>145 / 249</a:t>
                      </a:r>
                    </a:p>
                  </a:txBody>
                  <a:tcPr/>
                </a:tc>
                <a:tc>
                  <a:txBody>
                    <a:bodyPr/>
                    <a:lstStyle/>
                    <a:p>
                      <a:r>
                        <a:rPr sz="1100" b="0">
                          <a:solidFill>
                            <a:srgbClr val="202124"/>
                          </a:solidFill>
                        </a:rPr>
                        <a:t>697x faster</a:t>
                      </a:r>
                    </a:p>
                  </a:txBody>
                  <a:tcPr/>
                </a:tc>
              </a:tr>
              <a:tr h="246888">
                <a:tc>
                  <a:txBody>
                    <a:bodyPr/>
                    <a:lstStyle/>
                    <a:p>
                      <a:r>
                        <a:rPr sz="1100" b="1">
                          <a:solidFill>
                            <a:srgbClr val="202124"/>
                          </a:solidFill>
                        </a:rPr>
                        <a:t>NVIDIA Orin AGX GPU</a:t>
                      </a:r>
                    </a:p>
                  </a:txBody>
                  <a:tcPr/>
                </a:tc>
                <a:tc>
                  <a:txBody>
                    <a:bodyPr/>
                    <a:lstStyle/>
                    <a:p>
                      <a:r>
                        <a:rPr sz="1100" b="1">
                          <a:solidFill>
                            <a:srgbClr val="4C8BF5"/>
                          </a:solidFill>
                        </a:rPr>
                        <a:t>GPU</a:t>
                      </a:r>
                    </a:p>
                  </a:txBody>
                  <a:tcPr/>
                </a:tc>
                <a:tc>
                  <a:txBody>
                    <a:bodyPr/>
                    <a:lstStyle/>
                    <a:p>
                      <a:r>
                        <a:rPr sz="1100" b="0">
                          <a:solidFill>
                            <a:srgbClr val="202124"/>
                          </a:solidFill>
                        </a:rPr>
                        <a:t>23.28 ms</a:t>
                      </a:r>
                    </a:p>
                  </a:txBody>
                  <a:tcPr/>
                </a:tc>
                <a:tc>
                  <a:txBody>
                    <a:bodyPr/>
                    <a:lstStyle/>
                    <a:p>
                      <a:r>
                        <a:rPr sz="1100" b="0">
                          <a:solidFill>
                            <a:srgbClr val="202124"/>
                          </a:solidFill>
                        </a:rPr>
                        <a:t>43.0</a:t>
                      </a:r>
                    </a:p>
                  </a:txBody>
                  <a:tcPr/>
                </a:tc>
                <a:tc>
                  <a:txBody>
                    <a:bodyPr/>
                    <a:lstStyle/>
                    <a:p>
                      <a:r>
                        <a:rPr sz="1100" b="1">
                          <a:solidFill>
                            <a:srgbClr val="202124"/>
                          </a:solidFill>
                        </a:rPr>
                        <a:t>5,701</a:t>
                      </a:r>
                    </a:p>
                  </a:txBody>
                  <a:tcPr/>
                </a:tc>
                <a:tc>
                  <a:txBody>
                    <a:bodyPr/>
                    <a:lstStyle/>
                    <a:p>
                      <a:r>
                        <a:rPr sz="1100" b="0">
                          <a:solidFill>
                            <a:srgbClr val="202124"/>
                          </a:solidFill>
                        </a:rPr>
                        <a:t>87 / 175</a:t>
                      </a:r>
                    </a:p>
                  </a:txBody>
                  <a:tcPr/>
                </a:tc>
                <a:tc>
                  <a:txBody>
                    <a:bodyPr/>
                    <a:lstStyle/>
                    <a:p>
                      <a:r>
                        <a:rPr sz="1100" b="0">
                          <a:solidFill>
                            <a:srgbClr val="202124"/>
                          </a:solidFill>
                        </a:rPr>
                        <a:t>395x faster</a:t>
                      </a:r>
                    </a:p>
                  </a:txBody>
                  <a:tcPr/>
                </a:tc>
              </a:tr>
              <a:tr h="246888">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51.70 ms</a:t>
                      </a:r>
                    </a:p>
                  </a:txBody>
                  <a:tcPr/>
                </a:tc>
                <a:tc>
                  <a:txBody>
                    <a:bodyPr/>
                    <a:lstStyle/>
                    <a:p>
                      <a:r>
                        <a:rPr sz="1100" b="0">
                          <a:solidFill>
                            <a:srgbClr val="202124"/>
                          </a:solidFill>
                        </a:rPr>
                        <a:t>19.3</a:t>
                      </a:r>
                    </a:p>
                  </a:txBody>
                  <a:tcPr/>
                </a:tc>
                <a:tc>
                  <a:txBody>
                    <a:bodyPr/>
                    <a:lstStyle/>
                    <a:p>
                      <a:r>
                        <a:rPr sz="1100" b="1">
                          <a:solidFill>
                            <a:srgbClr val="202124"/>
                          </a:solidFill>
                        </a:rPr>
                        <a:t>2,567</a:t>
                      </a:r>
                    </a:p>
                  </a:txBody>
                  <a:tcPr/>
                </a:tc>
                <a:tc>
                  <a:txBody>
                    <a:bodyPr/>
                    <a:lstStyle/>
                    <a:p>
                      <a:r>
                        <a:rPr sz="1100" b="0">
                          <a:solidFill>
                            <a:srgbClr val="202124"/>
                          </a:solidFill>
                        </a:rPr>
                        <a:t>6.6 / 46.3</a:t>
                      </a:r>
                    </a:p>
                  </a:txBody>
                  <a:tcPr/>
                </a:tc>
                <a:tc>
                  <a:txBody>
                    <a:bodyPr/>
                    <a:lstStyle/>
                    <a:p>
                      <a:r>
                        <a:rPr sz="1100" b="0">
                          <a:solidFill>
                            <a:srgbClr val="202124"/>
                          </a:solidFill>
                        </a:rPr>
                        <a:t>178x faster</a:t>
                      </a:r>
                    </a:p>
                  </a:txBody>
                  <a:tcPr/>
                </a:tc>
              </a:tr>
              <a:tr h="246888">
                <a:tc>
                  <a:txBody>
                    <a:bodyPr/>
                    <a:lstStyle/>
                    <a:p>
                      <a:r>
                        <a:rPr sz="1100" b="1">
                          <a:solidFill>
                            <a:srgbClr val="202124"/>
                          </a:solidFill>
                        </a:rPr>
                        <a:t>NVIDIA Orin AGX OFA</a:t>
                      </a:r>
                    </a:p>
                  </a:txBody>
                  <a:tcPr/>
                </a:tc>
                <a:tc>
                  <a:txBody>
                    <a:bodyPr/>
                    <a:lstStyle/>
                    <a:p>
                      <a:r>
                        <a:rPr sz="1100" b="1">
                          <a:solidFill>
                            <a:srgbClr val="7B4FD1"/>
                          </a:solidFill>
                        </a:rPr>
                        <a:t>HW</a:t>
                      </a:r>
                    </a:p>
                  </a:txBody>
                  <a:tcPr/>
                </a:tc>
                <a:tc>
                  <a:txBody>
                    <a:bodyPr/>
                    <a:lstStyle/>
                    <a:p>
                      <a:r>
                        <a:rPr sz="1100" b="0">
                          <a:solidFill>
                            <a:srgbClr val="202124"/>
                          </a:solidFill>
                        </a:rPr>
                        <a:t>72.64 ms (D=128)</a:t>
                      </a:r>
                    </a:p>
                  </a:txBody>
                  <a:tcPr/>
                </a:tc>
                <a:tc>
                  <a:txBody>
                    <a:bodyPr/>
                    <a:lstStyle/>
                    <a:p>
                      <a:r>
                        <a:rPr sz="1100" b="0">
                          <a:solidFill>
                            <a:srgbClr val="202124"/>
                          </a:solidFill>
                        </a:rPr>
                        <a:t>13.8</a:t>
                      </a:r>
                    </a:p>
                  </a:txBody>
                  <a:tcPr/>
                </a:tc>
                <a:tc>
                  <a:txBody>
                    <a:bodyPr/>
                    <a:lstStyle/>
                    <a:p>
                      <a:r>
                        <a:rPr sz="1100" b="1">
                          <a:solidFill>
                            <a:srgbClr val="202124"/>
                          </a:solidFill>
                        </a:rPr>
                        <a:t>3,654</a:t>
                      </a:r>
                    </a:p>
                  </a:txBody>
                  <a:tcPr/>
                </a:tc>
                <a:tc>
                  <a:txBody>
                    <a:bodyPr/>
                    <a:lstStyle/>
                    <a:p>
                      <a:r>
                        <a:rPr sz="1100" b="0">
                          <a:solidFill>
                            <a:srgbClr val="202124"/>
                          </a:solidFill>
                        </a:rPr>
                        <a:t>—</a:t>
                      </a:r>
                    </a:p>
                  </a:txBody>
                  <a:tcPr/>
                </a:tc>
                <a:tc>
                  <a:txBody>
                    <a:bodyPr/>
                    <a:lstStyle/>
                    <a:p>
                      <a:r>
                        <a:rPr sz="1100" b="0">
                          <a:solidFill>
                            <a:srgbClr val="202124"/>
                          </a:solidFill>
                        </a:rPr>
                        <a:t>126x (time only)</a:t>
                      </a:r>
                    </a:p>
                  </a:txBody>
                  <a:tcPr/>
                </a:tc>
              </a:tr>
              <a:tr h="246888">
                <a:tc>
                  <a:txBody>
                    <a:bodyPr/>
                    <a:lstStyle/>
                    <a:p>
                      <a:r>
                        <a:rPr sz="1100" b="1">
                          <a:solidFill>
                            <a:srgbClr val="202124"/>
                          </a:solidFill>
                        </a:rPr>
                        <a:t>Cortex-A78C x8</a:t>
                      </a:r>
                    </a:p>
                  </a:txBody>
                  <a:tcPr/>
                </a:tc>
                <a:tc>
                  <a:txBody>
                    <a:bodyPr/>
                    <a:lstStyle/>
                    <a:p>
                      <a:r>
                        <a:rPr sz="1100" b="1">
                          <a:solidFill>
                            <a:srgbClr val="E8710A"/>
                          </a:solidFill>
                        </a:rPr>
                        <a:t>CPU</a:t>
                      </a:r>
                    </a:p>
                  </a:txBody>
                  <a:tcPr/>
                </a:tc>
                <a:tc>
                  <a:txBody>
                    <a:bodyPr/>
                    <a:lstStyle/>
                    <a:p>
                      <a:r>
                        <a:rPr sz="1100" b="0">
                          <a:solidFill>
                            <a:srgbClr val="202124"/>
                          </a:solidFill>
                        </a:rPr>
                        <a:t>97.99 ms</a:t>
                      </a:r>
                    </a:p>
                  </a:txBody>
                  <a:tcPr/>
                </a:tc>
                <a:tc>
                  <a:txBody>
                    <a:bodyPr/>
                    <a:lstStyle/>
                    <a:p>
                      <a:r>
                        <a:rPr sz="1100" b="0">
                          <a:solidFill>
                            <a:srgbClr val="202124"/>
                          </a:solidFill>
                        </a:rPr>
                        <a:t>10.2</a:t>
                      </a:r>
                    </a:p>
                  </a:txBody>
                  <a:tcPr/>
                </a:tc>
                <a:tc>
                  <a:txBody>
                    <a:bodyPr/>
                    <a:lstStyle/>
                    <a:p>
                      <a:r>
                        <a:rPr sz="1100" b="1">
                          <a:solidFill>
                            <a:srgbClr val="202124"/>
                          </a:solidFill>
                        </a:rPr>
                        <a:t>1,354</a:t>
                      </a:r>
                    </a:p>
                  </a:txBody>
                  <a:tcPr/>
                </a:tc>
                <a:tc>
                  <a:txBody>
                    <a:bodyPr/>
                    <a:lstStyle/>
                    <a:p>
                      <a:r>
                        <a:rPr sz="1100" b="0">
                          <a:solidFill>
                            <a:srgbClr val="202124"/>
                          </a:solidFill>
                        </a:rPr>
                        <a:t>3.4 / 27.1</a:t>
                      </a:r>
                    </a:p>
                  </a:txBody>
                  <a:tcPr/>
                </a:tc>
                <a:tc>
                  <a:txBody>
                    <a:bodyPr/>
                    <a:lstStyle/>
                    <a:p>
                      <a:r>
                        <a:rPr sz="1100" b="0">
                          <a:solidFill>
                            <a:srgbClr val="202124"/>
                          </a:solidFill>
                        </a:rPr>
                        <a:t>94x faster</a:t>
                      </a:r>
                    </a:p>
                  </a:txBody>
                  <a:tcPr/>
                </a:tc>
              </a:tr>
              <a:tr h="246888">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148.44 ms</a:t>
                      </a:r>
                    </a:p>
                  </a:txBody>
                  <a:tcPr/>
                </a:tc>
                <a:tc>
                  <a:txBody>
                    <a:bodyPr/>
                    <a:lstStyle/>
                    <a:p>
                      <a:r>
                        <a:rPr sz="1100" b="0">
                          <a:solidFill>
                            <a:srgbClr val="202124"/>
                          </a:solidFill>
                        </a:rPr>
                        <a:t>6.7</a:t>
                      </a:r>
                    </a:p>
                  </a:txBody>
                  <a:tcPr/>
                </a:tc>
                <a:tc>
                  <a:txBody>
                    <a:bodyPr/>
                    <a:lstStyle/>
                    <a:p>
                      <a:r>
                        <a:rPr sz="1100" b="1">
                          <a:solidFill>
                            <a:srgbClr val="202124"/>
                          </a:solidFill>
                        </a:rPr>
                        <a:t>894</a:t>
                      </a:r>
                    </a:p>
                  </a:txBody>
                  <a:tcPr/>
                </a:tc>
                <a:tc>
                  <a:txBody>
                    <a:bodyPr/>
                    <a:lstStyle/>
                    <a:p>
                      <a:r>
                        <a:rPr sz="1100" b="0">
                          <a:solidFill>
                            <a:srgbClr val="202124"/>
                          </a:solidFill>
                        </a:rPr>
                        <a:t>6.8 / 28</a:t>
                      </a:r>
                    </a:p>
                  </a:txBody>
                  <a:tcPr/>
                </a:tc>
                <a:tc>
                  <a:txBody>
                    <a:bodyPr/>
                    <a:lstStyle/>
                    <a:p>
                      <a:r>
                        <a:rPr sz="1100" b="0">
                          <a:solidFill>
                            <a:srgbClr val="202124"/>
                          </a:solidFill>
                        </a:rPr>
                        <a:t>62x faster</a:t>
                      </a:r>
                    </a:p>
                  </a:txBody>
                  <a:tcPr/>
                </a:tc>
              </a:tr>
              <a:tr h="246888">
                <a:tc>
                  <a:txBody>
                    <a:bodyPr/>
                    <a:lstStyle/>
                    <a:p>
                      <a:r>
                        <a:rPr sz="1100" b="1">
                          <a:solidFill>
                            <a:srgbClr val="202124"/>
                          </a:solidFill>
                        </a:rPr>
                        <a:t>Mali-G720</a:t>
                      </a:r>
                    </a:p>
                  </a:txBody>
                  <a:tcPr/>
                </a:tc>
                <a:tc>
                  <a:txBody>
                    <a:bodyPr/>
                    <a:lstStyle/>
                    <a:p>
                      <a:r>
                        <a:rPr sz="1100" b="1">
                          <a:solidFill>
                            <a:srgbClr val="4C8BF5"/>
                          </a:solidFill>
                        </a:rPr>
                        <a:t>GPU</a:t>
                      </a:r>
                    </a:p>
                  </a:txBody>
                  <a:tcPr/>
                </a:tc>
                <a:tc>
                  <a:txBody>
                    <a:bodyPr/>
                    <a:lstStyle/>
                    <a:p>
                      <a:r>
                        <a:rPr sz="1100" b="0">
                          <a:solidFill>
                            <a:srgbClr val="202124"/>
                          </a:solidFill>
                        </a:rPr>
                        <a:t>256.00 ms</a:t>
                      </a:r>
                    </a:p>
                  </a:txBody>
                  <a:tcPr/>
                </a:tc>
                <a:tc>
                  <a:txBody>
                    <a:bodyPr/>
                    <a:lstStyle/>
                    <a:p>
                      <a:r>
                        <a:rPr sz="1100" b="0">
                          <a:solidFill>
                            <a:srgbClr val="202124"/>
                          </a:solidFill>
                        </a:rPr>
                        <a:t>3.9</a:t>
                      </a:r>
                    </a:p>
                  </a:txBody>
                  <a:tcPr/>
                </a:tc>
                <a:tc>
                  <a:txBody>
                    <a:bodyPr/>
                    <a:lstStyle/>
                    <a:p>
                      <a:r>
                        <a:rPr sz="1100" b="1">
                          <a:solidFill>
                            <a:srgbClr val="202124"/>
                          </a:solidFill>
                        </a:rPr>
                        <a:t>518</a:t>
                      </a:r>
                    </a:p>
                  </a:txBody>
                  <a:tcPr/>
                </a:tc>
                <a:tc>
                  <a:txBody>
                    <a:bodyPr/>
                    <a:lstStyle/>
                    <a:p>
                      <a:r>
                        <a:rPr sz="1100" b="0">
                          <a:solidFill>
                            <a:srgbClr val="202124"/>
                          </a:solidFill>
                        </a:rPr>
                        <a:t>16.1 / 46.3</a:t>
                      </a:r>
                    </a:p>
                  </a:txBody>
                  <a:tcPr/>
                </a:tc>
                <a:tc>
                  <a:txBody>
                    <a:bodyPr/>
                    <a:lstStyle/>
                    <a:p>
                      <a:r>
                        <a:rPr sz="1100" b="0">
                          <a:solidFill>
                            <a:srgbClr val="202124"/>
                          </a:solidFill>
                        </a:rPr>
                        <a:t>36x faster</a:t>
                      </a:r>
                    </a:p>
                  </a:txBody>
                  <a:tcPr/>
                </a:tc>
              </a:tr>
              <a:tr h="246888">
                <a:tc>
                  <a:txBody>
                    <a:bodyPr/>
                    <a:lstStyle/>
                    <a:p>
                      <a:r>
                        <a:rPr sz="1100" b="1">
                          <a:solidFill>
                            <a:srgbClr val="202124"/>
                          </a:solidFill>
                        </a:rPr>
                        <a:t>Cortex-A720 x1 @2.5GHz</a:t>
                      </a:r>
                    </a:p>
                  </a:txBody>
                  <a:tcPr/>
                </a:tc>
                <a:tc>
                  <a:txBody>
                    <a:bodyPr/>
                    <a:lstStyle/>
                    <a:p>
                      <a:r>
                        <a:rPr sz="1100" b="1">
                          <a:solidFill>
                            <a:srgbClr val="E8710A"/>
                          </a:solidFill>
                        </a:rPr>
                        <a:t>CPU</a:t>
                      </a:r>
                    </a:p>
                  </a:txBody>
                  <a:tcPr/>
                </a:tc>
                <a:tc>
                  <a:txBody>
                    <a:bodyPr/>
                    <a:lstStyle/>
                    <a:p>
                      <a:r>
                        <a:rPr sz="1100" b="0">
                          <a:solidFill>
                            <a:srgbClr val="202124"/>
                          </a:solidFill>
                        </a:rPr>
                        <a:t>313.60 ms</a:t>
                      </a:r>
                    </a:p>
                  </a:txBody>
                  <a:tcPr/>
                </a:tc>
                <a:tc>
                  <a:txBody>
                    <a:bodyPr/>
                    <a:lstStyle/>
                    <a:p>
                      <a:r>
                        <a:rPr sz="1100" b="0">
                          <a:solidFill>
                            <a:srgbClr val="202124"/>
                          </a:solidFill>
                        </a:rPr>
                        <a:t>3.2</a:t>
                      </a:r>
                    </a:p>
                  </a:txBody>
                  <a:tcPr/>
                </a:tc>
                <a:tc>
                  <a:txBody>
                    <a:bodyPr/>
                    <a:lstStyle/>
                    <a:p>
                      <a:r>
                        <a:rPr sz="1100" b="1">
                          <a:solidFill>
                            <a:srgbClr val="202124"/>
                          </a:solidFill>
                        </a:rPr>
                        <a:t>423</a:t>
                      </a:r>
                    </a:p>
                  </a:txBody>
                  <a:tcPr/>
                </a:tc>
                <a:tc>
                  <a:txBody>
                    <a:bodyPr/>
                    <a:lstStyle/>
                    <a:p>
                      <a:r>
                        <a:rPr sz="1100" b="0">
                          <a:solidFill>
                            <a:srgbClr val="202124"/>
                          </a:solidFill>
                        </a:rPr>
                        <a:t>1.1 / 46.3</a:t>
                      </a:r>
                    </a:p>
                  </a:txBody>
                  <a:tcPr/>
                </a:tc>
                <a:tc>
                  <a:txBody>
                    <a:bodyPr/>
                    <a:lstStyle/>
                    <a:p>
                      <a:r>
                        <a:rPr sz="1100" b="0">
                          <a:solidFill>
                            <a:srgbClr val="202124"/>
                          </a:solidFill>
                        </a:rPr>
                        <a:t>29x faster</a:t>
                      </a:r>
                    </a:p>
                  </a:txBody>
                  <a:tcPr/>
                </a:tc>
              </a:tr>
              <a:tr h="246888">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336.11 ms</a:t>
                      </a:r>
                    </a:p>
                  </a:txBody>
                  <a:tcPr/>
                </a:tc>
                <a:tc>
                  <a:txBody>
                    <a:bodyPr/>
                    <a:lstStyle/>
                    <a:p>
                      <a:r>
                        <a:rPr sz="1100" b="0">
                          <a:solidFill>
                            <a:srgbClr val="202124"/>
                          </a:solidFill>
                        </a:rPr>
                        <a:t>3.0</a:t>
                      </a:r>
                    </a:p>
                  </a:txBody>
                  <a:tcPr/>
                </a:tc>
                <a:tc>
                  <a:txBody>
                    <a:bodyPr/>
                    <a:lstStyle/>
                    <a:p>
                      <a:r>
                        <a:rPr sz="1100" b="1">
                          <a:solidFill>
                            <a:srgbClr val="202124"/>
                          </a:solidFill>
                        </a:rPr>
                        <a:t>395</a:t>
                      </a:r>
                    </a:p>
                  </a:txBody>
                  <a:tcPr/>
                </a:tc>
                <a:tc>
                  <a:txBody>
                    <a:bodyPr/>
                    <a:lstStyle/>
                    <a:p>
                      <a:r>
                        <a:rPr sz="1100" b="0">
                          <a:solidFill>
                            <a:srgbClr val="202124"/>
                          </a:solidFill>
                        </a:rPr>
                        <a:t>1.0 / 27.1</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341.30 ms</a:t>
                      </a:r>
                    </a:p>
                  </a:txBody>
                  <a:tcPr/>
                </a:tc>
                <a:tc>
                  <a:txBody>
                    <a:bodyPr/>
                    <a:lstStyle/>
                    <a:p>
                      <a:r>
                        <a:rPr sz="1100" b="0">
                          <a:solidFill>
                            <a:srgbClr val="202124"/>
                          </a:solidFill>
                        </a:rPr>
                        <a:t>2.9</a:t>
                      </a:r>
                    </a:p>
                  </a:txBody>
                  <a:tcPr/>
                </a:tc>
                <a:tc>
                  <a:txBody>
                    <a:bodyPr/>
                    <a:lstStyle/>
                    <a:p>
                      <a:r>
                        <a:rPr sz="1100" b="1">
                          <a:solidFill>
                            <a:srgbClr val="202124"/>
                          </a:solidFill>
                        </a:rPr>
                        <a:t>389</a:t>
                      </a:r>
                    </a:p>
                  </a:txBody>
                  <a:tcPr/>
                </a:tc>
                <a:tc>
                  <a:txBody>
                    <a:bodyPr/>
                    <a:lstStyle/>
                    <a:p>
                      <a:r>
                        <a:rPr sz="1100" b="0">
                          <a:solidFill>
                            <a:srgbClr val="202124"/>
                          </a:solidFill>
                        </a:rPr>
                        <a:t>1.1 / 13.7</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x1 @1.8GHz</a:t>
                      </a:r>
                    </a:p>
                  </a:txBody>
                  <a:tcPr/>
                </a:tc>
                <a:tc>
                  <a:txBody>
                    <a:bodyPr/>
                    <a:lstStyle/>
                    <a:p>
                      <a:r>
                        <a:rPr sz="1100" b="1">
                          <a:solidFill>
                            <a:srgbClr val="E8710A"/>
                          </a:solidFill>
                        </a:rPr>
                        <a:t>CPU</a:t>
                      </a:r>
                    </a:p>
                  </a:txBody>
                  <a:tcPr/>
                </a:tc>
                <a:tc>
                  <a:txBody>
                    <a:bodyPr/>
                    <a:lstStyle/>
                    <a:p>
                      <a:r>
                        <a:rPr sz="1100" b="0">
                          <a:solidFill>
                            <a:srgbClr val="202124"/>
                          </a:solidFill>
                        </a:rPr>
                        <a:t>1,588.74 ms</a:t>
                      </a:r>
                    </a:p>
                  </a:txBody>
                  <a:tcPr/>
                </a:tc>
                <a:tc>
                  <a:txBody>
                    <a:bodyPr/>
                    <a:lstStyle/>
                    <a:p>
                      <a:r>
                        <a:rPr sz="1100" b="0">
                          <a:solidFill>
                            <a:srgbClr val="202124"/>
                          </a:solidFill>
                        </a:rPr>
                        <a:t>0.6</a:t>
                      </a:r>
                    </a:p>
                  </a:txBody>
                  <a:tcPr/>
                </a:tc>
                <a:tc>
                  <a:txBody>
                    <a:bodyPr/>
                    <a:lstStyle/>
                    <a:p>
                      <a:r>
                        <a:rPr sz="1100" b="1">
                          <a:solidFill>
                            <a:srgbClr val="202124"/>
                          </a:solidFill>
                        </a:rPr>
                        <a:t>84</a:t>
                      </a:r>
                    </a:p>
                  </a:txBody>
                  <a:tcPr/>
                </a:tc>
                <a:tc>
                  <a:txBody>
                    <a:bodyPr/>
                    <a:lstStyle/>
                    <a:p>
                      <a:r>
                        <a:rPr sz="1100" b="0">
                          <a:solidFill>
                            <a:srgbClr val="202124"/>
                          </a:solidFill>
                        </a:rPr>
                        <a:t>0.2 / 13.7</a:t>
                      </a:r>
                    </a:p>
                  </a:txBody>
                  <a:tcPr/>
                </a:tc>
                <a:tc>
                  <a:txBody>
                    <a:bodyPr/>
                    <a:lstStyle/>
                    <a:p>
                      <a:r>
                        <a:rPr sz="1100" b="0">
                          <a:solidFill>
                            <a:srgbClr val="202124"/>
                          </a:solidFill>
                        </a:rPr>
                        <a:t>6x faster</a:t>
                      </a:r>
                    </a:p>
                  </a:txBody>
                  <a:tcPr/>
                </a:tc>
              </a:tr>
              <a:tr h="246888">
                <a:tc>
                  <a:txBody>
                    <a:bodyPr/>
                    <a:lstStyle/>
                    <a:p>
                      <a:r>
                        <a:rPr sz="1100" b="1">
                          <a:solidFill>
                            <a:srgbClr val="202124"/>
                          </a:solidFill>
                        </a:rPr>
                        <a:t>Mali-G310</a:t>
                      </a:r>
                    </a:p>
                  </a:txBody>
                  <a:tcPr/>
                </a:tc>
                <a:tc>
                  <a:txBody>
                    <a:bodyPr/>
                    <a:lstStyle/>
                    <a:p>
                      <a:r>
                        <a:rPr sz="1100" b="1">
                          <a:solidFill>
                            <a:srgbClr val="4C8BF5"/>
                          </a:solidFill>
                        </a:rPr>
                        <a:t>GPU</a:t>
                      </a:r>
                    </a:p>
                  </a:txBody>
                  <a:tcPr/>
                </a:tc>
                <a:tc>
                  <a:txBody>
                    <a:bodyPr/>
                    <a:lstStyle/>
                    <a:p>
                      <a:r>
                        <a:rPr sz="1100" b="0">
                          <a:solidFill>
                            <a:srgbClr val="202124"/>
                          </a:solidFill>
                        </a:rPr>
                        <a:t>1,846.00 ms</a:t>
                      </a:r>
                    </a:p>
                  </a:txBody>
                  <a:tcPr/>
                </a:tc>
                <a:tc>
                  <a:txBody>
                    <a:bodyPr/>
                    <a:lstStyle/>
                    <a:p>
                      <a:r>
                        <a:rPr sz="1100" b="0">
                          <a:solidFill>
                            <a:srgbClr val="202124"/>
                          </a:solidFill>
                        </a:rPr>
                        <a:t>0.5</a:t>
                      </a:r>
                    </a:p>
                  </a:txBody>
                  <a:tcPr/>
                </a:tc>
                <a:tc>
                  <a:txBody>
                    <a:bodyPr/>
                    <a:lstStyle/>
                    <a:p>
                      <a:r>
                        <a:rPr sz="1100" b="1">
                          <a:solidFill>
                            <a:srgbClr val="202124"/>
                          </a:solidFill>
                        </a:rPr>
                        <a:t>72</a:t>
                      </a:r>
                    </a:p>
                  </a:txBody>
                  <a:tcPr/>
                </a:tc>
                <a:tc>
                  <a:txBody>
                    <a:bodyPr/>
                    <a:lstStyle/>
                    <a:p>
                      <a:r>
                        <a:rPr sz="1100" b="0">
                          <a:solidFill>
                            <a:srgbClr val="202124"/>
                          </a:solidFill>
                        </a:rPr>
                        <a:t>1.6 / 13.7</a:t>
                      </a:r>
                    </a:p>
                  </a:txBody>
                  <a:tcPr/>
                </a:tc>
                <a:tc>
                  <a:txBody>
                    <a:bodyPr/>
                    <a:lstStyle/>
                    <a:p>
                      <a:r>
                        <a:rPr sz="1100" b="0">
                          <a:solidFill>
                            <a:srgbClr val="202124"/>
                          </a:solidFill>
                        </a:rPr>
                        <a:t>5x faster</a:t>
                      </a:r>
                    </a:p>
                  </a:txBody>
                  <a:tcPr/>
                </a:tc>
              </a:tr>
              <a:tr h="246888">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9,188.00 ms</a:t>
                      </a:r>
                    </a:p>
                  </a:txBody>
                  <a:tcPr/>
                </a:tc>
                <a:tc>
                  <a:txBody>
                    <a:bodyPr/>
                    <a:lstStyle/>
                    <a:p>
                      <a:r>
                        <a:rPr sz="1100" b="0">
                          <a:solidFill>
                            <a:srgbClr val="202124"/>
                          </a:solidFill>
                        </a:rPr>
                        <a:t>0.1</a:t>
                      </a:r>
                    </a:p>
                  </a:txBody>
                  <a:tcPr/>
                </a:tc>
                <a:tc>
                  <a:txBody>
                    <a:bodyPr/>
                    <a:lstStyle/>
                    <a:p>
                      <a:r>
                        <a:rPr sz="1100" b="1">
                          <a:solidFill>
                            <a:srgbClr val="202124"/>
                          </a:solidFill>
                        </a:rPr>
                        <a:t>14</a:t>
                      </a:r>
                    </a:p>
                  </a:txBody>
                  <a:tcPr/>
                </a:tc>
                <a:tc>
                  <a:txBody>
                    <a:bodyPr/>
                    <a:lstStyle/>
                    <a:p>
                      <a:r>
                        <a:rPr sz="1100" b="0">
                          <a:solidFill>
                            <a:srgbClr val="202124"/>
                          </a:solidFill>
                        </a:rPr>
                        <a:t>—</a:t>
                      </a:r>
                    </a:p>
                  </a:txBody>
                  <a:tcPr/>
                </a:tc>
                <a:tc>
                  <a:txBody>
                    <a:bodyPr/>
                    <a:lstStyle/>
                    <a:p>
                      <a:r>
                        <a:rPr sz="1100" b="0">
                          <a:solidFill>
                            <a:srgbClr val="202124"/>
                          </a:solidFill>
                        </a:rPr>
                        <a:t>1x faster</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3000" b="1">
                <a:solidFill>
                  <a:srgbClr val="4C8BF5"/>
                </a:solidFill>
                <a:latin typeface="Calibri"/>
              </a:rPr>
              <a:t>2,655x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3000" b="1">
                <a:solidFill>
                  <a:srgbClr val="202124"/>
                </a:solidFill>
                <a:latin typeface="Calibri"/>
              </a:rPr>
              <a:t>10.4x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the fastest published Arm-CPU SGM,</a:t>
            </a:r>
          </a:p>
          <a:p>
            <a:r>
              <a:rPr sz="1200">
                <a:solidFill>
                  <a:srgbClr val="5F6368"/>
                </a:solidFill>
                <a:latin typeface="Calibri"/>
              </a:rPr>
              <a:t>at matched D and matched path count</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3000" b="1">
                <a:solidFill>
                  <a:srgbClr val="202124"/>
                </a:solidFill>
                <a:latin typeface="Calibri"/>
              </a:rPr>
              <a:t>10 / 4 / 3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processors / vendors / programming models</a:t>
            </a:r>
          </a:p>
          <a:p>
            <a:r>
              <a:rPr sz="1200">
                <a:solidFill>
                  <a:srgbClr val="5F6368"/>
                </a:solidFill>
                <a:latin typeface="Calibri"/>
              </a:rPr>
              <a:t>/ one golden hash</a:t>
            </a:r>
          </a:p>
        </p:txBody>
      </p:sp>
      <p:sp>
        <p:nvSpPr>
          <p:cNvPr id="11" name="TextBox 10"/>
          <p:cNvSpPr txBox="1"/>
          <p:nvPr/>
        </p:nvSpPr>
        <p:spPr>
          <a:xfrm>
            <a:off x="548640" y="6656832"/>
            <a:ext cx="11155680" cy="274320"/>
          </a:xfrm>
          <a:prstGeom prst="rect">
            <a:avLst/>
          </a:prstGeom>
          <a:noFill/>
        </p:spPr>
        <p:txBody>
          <a:bodyPr wrap="square">
            <a:spAutoFit/>
          </a:bodyPr>
          <a:lstStyle/>
          <a:p>
            <a:pPr algn="l"/>
            <a:r>
              <a:rPr sz="1000" b="0">
                <a:solidFill>
                  <a:srgbClr val="5F6368"/>
                </a:solidFill>
                <a:latin typeface="Calibri"/>
              </a:rPr>
              <a:t>* DRAM GB/s = achieved (DERIVED: modelled bytes / measured phase time) / ceiling (MEASURED, copy probe per board; CPU+Mali share one bus). GPUs run at 42-58% of ceiling (memory-bound); CPUs/Malis at 8-37% (compute-bound). Aggregation streams 1.46 GB/frame at 1080p D=64. Blank = not instrumented. MDE/s = W x H x D / runtime — right for comparing implementations, wrong for choosing a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This workload is about moving data</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At 1080p D=64 the aggregation phase alone streams 1.46 GB per frame (the summed cost volume is 265 MB, touched four times). Every ceiling is MEASURED with a streaming-copy probe on the part itself; every achieved figure is DERIVED as the kernel's exact modelled byte count / the measured phase time.</a:t>
            </a:r>
          </a:p>
        </p:txBody>
      </p:sp>
      <p:graphicFrame>
        <p:nvGraphicFramePr>
          <p:cNvPr id="4" name="Table 3"/>
          <p:cNvGraphicFramePr>
            <a:graphicFrameLocks noGrp="1"/>
          </p:cNvGraphicFramePr>
          <p:nvPr/>
        </p:nvGraphicFramePr>
        <p:xfrm>
          <a:off x="548640" y="1828800"/>
          <a:ext cx="11064240" cy="2798064"/>
        </p:xfrm>
        <a:graphic>
          <a:graphicData uri="http://schemas.openxmlformats.org/drawingml/2006/table">
            <a:tbl>
              <a:tblPr firstRow="1" bandRow="1">
                <a:tableStyleId>{5C22544A-7EE6-4342-B048-85BDC9FD1C3A}</a:tableStyleId>
              </a:tblPr>
              <a:tblGrid>
                <a:gridCol w="2377440"/>
                <a:gridCol w="1371600"/>
                <a:gridCol w="1463040"/>
                <a:gridCol w="1371600"/>
                <a:gridCol w="1005840"/>
                <a:gridCol w="3474720"/>
              </a:tblGrid>
              <a:tr h="310896">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aggregate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310896">
                <a:tc>
                  <a:txBody>
                    <a:bodyPr/>
                    <a:lstStyle/>
                    <a:p>
                      <a:r>
                        <a:rPr sz="1100" b="1">
                          <a:solidFill>
                            <a:srgbClr val="202124"/>
                          </a:solidFill>
                        </a:rPr>
                        <a:t>NVIDIA RTX 5090</a:t>
                      </a:r>
                    </a:p>
                  </a:txBody>
                  <a:tcPr/>
                </a:tc>
                <a:tc>
                  <a:txBody>
                    <a:bodyPr/>
                    <a:lstStyle/>
                    <a:p>
                      <a:r>
                        <a:rPr sz="1100" b="0">
                          <a:solidFill>
                            <a:srgbClr val="202124"/>
                          </a:solidFill>
                        </a:rPr>
                        <a:t>2.49 ms</a:t>
                      </a:r>
                    </a:p>
                  </a:txBody>
                  <a:tcPr/>
                </a:tc>
                <a:tc>
                  <a:txBody>
                    <a:bodyPr/>
                    <a:lstStyle/>
                    <a:p>
                      <a:r>
                        <a:rPr sz="1100" b="1">
                          <a:solidFill>
                            <a:srgbClr val="202124"/>
                          </a:solidFill>
                        </a:rPr>
                        <a:t>587</a:t>
                      </a:r>
                    </a:p>
                  </a:txBody>
                  <a:tcPr/>
                </a:tc>
                <a:tc>
                  <a:txBody>
                    <a:bodyPr/>
                    <a:lstStyle/>
                    <a:p>
                      <a:r>
                        <a:rPr sz="1100" b="0">
                          <a:solidFill>
                            <a:srgbClr val="202124"/>
                          </a:solidFill>
                        </a:rPr>
                        <a:t>1,385</a:t>
                      </a:r>
                    </a:p>
                  </a:txBody>
                  <a:tcPr/>
                </a:tc>
                <a:tc>
                  <a:txBody>
                    <a:bodyPr/>
                    <a:lstStyle/>
                    <a:p>
                      <a:r>
                        <a:rPr sz="1100" b="0">
                          <a:solidFill>
                            <a:srgbClr val="202124"/>
                          </a:solidFill>
                        </a:rPr>
                        <a:t>42%</a:t>
                      </a:r>
                    </a:p>
                  </a:txBody>
                  <a:tcPr/>
                </a:tc>
                <a:tc>
                  <a:txBody>
                    <a:bodyPr/>
                    <a:lstStyle/>
                    <a:p>
                      <a:r>
                        <a:rPr sz="1100" b="0">
                          <a:solidFill>
                            <a:srgbClr val="202124"/>
                          </a:solidFill>
                        </a:rPr>
                        <a:t>memory-bound -- and the LEAST efficient of the three</a:t>
                      </a:r>
                    </a:p>
                  </a:txBody>
                  <a:tcPr/>
                </a:tc>
              </a:tr>
              <a:tr h="310896">
                <a:tc>
                  <a:txBody>
                    <a:bodyPr/>
                    <a:lstStyle/>
                    <a:p>
                      <a:r>
                        <a:rPr sz="1100" b="1">
                          <a:solidFill>
                            <a:srgbClr val="202124"/>
                          </a:solidFill>
                        </a:rPr>
                        <a:t>NVIDIA Thor</a:t>
                      </a:r>
                    </a:p>
                  </a:txBody>
                  <a:tcPr/>
                </a:tc>
                <a:tc>
                  <a:txBody>
                    <a:bodyPr/>
                    <a:lstStyle/>
                    <a:p>
                      <a:r>
                        <a:rPr sz="1100" b="0">
                          <a:solidFill>
                            <a:srgbClr val="202124"/>
                          </a:solidFill>
                        </a:rPr>
                        <a:t>10.04 ms</a:t>
                      </a:r>
                    </a:p>
                  </a:txBody>
                  <a:tcPr/>
                </a:tc>
                <a:tc>
                  <a:txBody>
                    <a:bodyPr/>
                    <a:lstStyle/>
                    <a:p>
                      <a:r>
                        <a:rPr sz="1100" b="1">
                          <a:solidFill>
                            <a:srgbClr val="202124"/>
                          </a:solidFill>
                        </a:rPr>
                        <a:t>145</a:t>
                      </a:r>
                    </a:p>
                  </a:txBody>
                  <a:tcPr/>
                </a:tc>
                <a:tc>
                  <a:txBody>
                    <a:bodyPr/>
                    <a:lstStyle/>
                    <a:p>
                      <a:r>
                        <a:rPr sz="1100" b="0">
                          <a:solidFill>
                            <a:srgbClr val="202124"/>
                          </a:solidFill>
                        </a:rPr>
                        <a:t>249</a:t>
                      </a:r>
                    </a:p>
                  </a:txBody>
                  <a:tcPr/>
                </a:tc>
                <a:tc>
                  <a:txBody>
                    <a:bodyPr/>
                    <a:lstStyle/>
                    <a:p>
                      <a:r>
                        <a:rPr sz="1100" b="0">
                          <a:solidFill>
                            <a:srgbClr val="202124"/>
                          </a:solidFill>
                        </a:rPr>
                        <a:t>58%</a:t>
                      </a:r>
                    </a:p>
                  </a:txBody>
                  <a:tcPr/>
                </a:tc>
                <a:tc>
                  <a:txBody>
                    <a:bodyPr/>
                    <a:lstStyle/>
                    <a:p>
                      <a:r>
                        <a:rPr sz="1100" b="0">
                          <a:solidFill>
                            <a:srgbClr val="202124"/>
                          </a:solidFill>
                        </a:rPr>
                        <a:t>memory-bound</a:t>
                      </a:r>
                    </a:p>
                  </a:txBody>
                  <a:tcPr/>
                </a:tc>
              </a:tr>
              <a:tr h="310896">
                <a:tc>
                  <a:txBody>
                    <a:bodyPr/>
                    <a:lstStyle/>
                    <a:p>
                      <a:r>
                        <a:rPr sz="1100" b="1">
                          <a:solidFill>
                            <a:srgbClr val="202124"/>
                          </a:solidFill>
                        </a:rPr>
                        <a:t>NVIDIA Orin AGX</a:t>
                      </a:r>
                    </a:p>
                  </a:txBody>
                  <a:tcPr/>
                </a:tc>
                <a:tc>
                  <a:txBody>
                    <a:bodyPr/>
                    <a:lstStyle/>
                    <a:p>
                      <a:r>
                        <a:rPr sz="1100" b="0">
                          <a:solidFill>
                            <a:srgbClr val="202124"/>
                          </a:solidFill>
                        </a:rPr>
                        <a:t>16.83 ms</a:t>
                      </a:r>
                    </a:p>
                  </a:txBody>
                  <a:tcPr/>
                </a:tc>
                <a:tc>
                  <a:txBody>
                    <a:bodyPr/>
                    <a:lstStyle/>
                    <a:p>
                      <a:r>
                        <a:rPr sz="1100" b="1">
                          <a:solidFill>
                            <a:srgbClr val="202124"/>
                          </a:solidFill>
                        </a:rPr>
                        <a:t>87</a:t>
                      </a:r>
                    </a:p>
                  </a:txBody>
                  <a:tcPr/>
                </a:tc>
                <a:tc>
                  <a:txBody>
                    <a:bodyPr/>
                    <a:lstStyle/>
                    <a:p>
                      <a:r>
                        <a:rPr sz="1100" b="0">
                          <a:solidFill>
                            <a:srgbClr val="202124"/>
                          </a:solidFill>
                        </a:rPr>
                        <a:t>175</a:t>
                      </a:r>
                    </a:p>
                  </a:txBody>
                  <a:tcPr/>
                </a:tc>
                <a:tc>
                  <a:txBody>
                    <a:bodyPr/>
                    <a:lstStyle/>
                    <a:p>
                      <a:r>
                        <a:rPr sz="1100" b="0">
                          <a:solidFill>
                            <a:srgbClr val="202124"/>
                          </a:solidFill>
                        </a:rPr>
                        <a:t>49%</a:t>
                      </a:r>
                    </a:p>
                  </a:txBody>
                  <a:tcPr/>
                </a:tc>
                <a:tc>
                  <a:txBody>
                    <a:bodyPr/>
                    <a:lstStyle/>
                    <a:p>
                      <a:r>
                        <a:rPr sz="1100" b="0">
                          <a:solidFill>
                            <a:srgbClr val="202124"/>
                          </a:solidFill>
                        </a:rPr>
                        <a:t>memory-bound</a:t>
                      </a:r>
                    </a:p>
                  </a:txBody>
                  <a:tcPr/>
                </a:tc>
              </a:tr>
              <a:tr h="310896">
                <a:tc>
                  <a:txBody>
                    <a:bodyPr/>
                    <a:lstStyle/>
                    <a:p>
                      <a:r>
                        <a:rPr sz="1100" b="1">
                          <a:solidFill>
                            <a:srgbClr val="202124"/>
                          </a:solidFill>
                        </a:rPr>
                        <a:t>Mali-G720 (10 CU)</a:t>
                      </a:r>
                    </a:p>
                  </a:txBody>
                  <a:tcPr/>
                </a:tc>
                <a:tc>
                  <a:txBody>
                    <a:bodyPr/>
                    <a:lstStyle/>
                    <a:p>
                      <a:r>
                        <a:rPr sz="1100" b="0">
                          <a:solidFill>
                            <a:srgbClr val="202124"/>
                          </a:solidFill>
                        </a:rPr>
                        <a:t>--</a:t>
                      </a:r>
                    </a:p>
                  </a:txBody>
                  <a:tcPr/>
                </a:tc>
                <a:tc>
                  <a:txBody>
                    <a:bodyPr/>
                    <a:lstStyle/>
                    <a:p>
                      <a:r>
                        <a:rPr sz="1100" b="1">
                          <a:solidFill>
                            <a:srgbClr val="202124"/>
                          </a:solidFill>
                        </a:rPr>
                        <a:t>16.1</a:t>
                      </a:r>
                    </a:p>
                  </a:txBody>
                  <a:tcPr/>
                </a:tc>
                <a:tc>
                  <a:txBody>
                    <a:bodyPr/>
                    <a:lstStyle/>
                    <a:p>
                      <a:r>
                        <a:rPr sz="1100" b="0">
                          <a:solidFill>
                            <a:srgbClr val="202124"/>
                          </a:solidFill>
                        </a:rPr>
                        <a:t>46.3</a:t>
                      </a:r>
                    </a:p>
                  </a:txBody>
                  <a:tcPr/>
                </a:tc>
                <a:tc>
                  <a:txBody>
                    <a:bodyPr/>
                    <a:lstStyle/>
                    <a:p>
                      <a:r>
                        <a:rPr sz="1100" b="0">
                          <a:solidFill>
                            <a:srgbClr val="202124"/>
                          </a:solidFill>
                        </a:rPr>
                        <a:t>35%</a:t>
                      </a:r>
                    </a:p>
                  </a:txBody>
                  <a:tcPr/>
                </a:tc>
                <a:tc>
                  <a:txBody>
                    <a:bodyPr/>
                    <a:lstStyle/>
                    <a:p>
                      <a:r>
                        <a:rPr sz="1100" b="0">
                          <a:solidFill>
                            <a:srgbClr val="202124"/>
                          </a:solidFill>
                        </a:rPr>
                        <a:t>not bandwidth-bound</a:t>
                      </a:r>
                    </a:p>
                  </a:txBody>
                  <a:tcPr/>
                </a:tc>
              </a:tr>
              <a:tr h="310896">
                <a:tc>
                  <a:txBody>
                    <a:bodyPr/>
                    <a:lstStyle/>
                    <a:p>
                      <a:r>
                        <a:rPr sz="1100" b="1">
                          <a:solidFill>
                            <a:srgbClr val="202124"/>
                          </a:solidFill>
                        </a:rPr>
                        <a:t>8x Cortex-A720</a:t>
                      </a:r>
                    </a:p>
                  </a:txBody>
                  <a:tcPr/>
                </a:tc>
                <a:tc>
                  <a:txBody>
                    <a:bodyPr/>
                    <a:lstStyle/>
                    <a:p>
                      <a:r>
                        <a:rPr sz="1100" b="0">
                          <a:solidFill>
                            <a:srgbClr val="202124"/>
                          </a:solidFill>
                        </a:rPr>
                        <a:t>--</a:t>
                      </a:r>
                    </a:p>
                  </a:txBody>
                  <a:tcPr/>
                </a:tc>
                <a:tc>
                  <a:txBody>
                    <a:bodyPr/>
                    <a:lstStyle/>
                    <a:p>
                      <a:r>
                        <a:rPr sz="1100" b="1">
                          <a:solidFill>
                            <a:srgbClr val="202124"/>
                          </a:solidFill>
                        </a:rPr>
                        <a:t>6.6</a:t>
                      </a:r>
                    </a:p>
                  </a:txBody>
                  <a:tcPr/>
                </a:tc>
                <a:tc>
                  <a:txBody>
                    <a:bodyPr/>
                    <a:lstStyle/>
                    <a:p>
                      <a:r>
                        <a:rPr sz="1100" b="0">
                          <a:solidFill>
                            <a:srgbClr val="202124"/>
                          </a:solidFill>
                        </a:rPr>
                        <a:t>46.3</a:t>
                      </a:r>
                    </a:p>
                  </a:txBody>
                  <a:tcPr/>
                </a:tc>
                <a:tc>
                  <a:txBody>
                    <a:bodyPr/>
                    <a:lstStyle/>
                    <a:p>
                      <a:r>
                        <a:rPr sz="1100" b="0">
                          <a:solidFill>
                            <a:srgbClr val="202124"/>
                          </a:solidFill>
                        </a:rPr>
                        <a:t>14%</a:t>
                      </a:r>
                    </a:p>
                  </a:txBody>
                  <a:tcPr/>
                </a:tc>
                <a:tc>
                  <a:txBody>
                    <a:bodyPr/>
                    <a:lstStyle/>
                    <a:p>
                      <a:r>
                        <a:rPr sz="1100" b="0">
                          <a:solidFill>
                            <a:srgbClr val="202124"/>
                          </a:solidFill>
                        </a:rPr>
                        <a:t>compute-bound</a:t>
                      </a:r>
                    </a:p>
                  </a:txBody>
                  <a:tcPr/>
                </a:tc>
              </a:tr>
              <a:tr h="310896">
                <a:tc>
                  <a:txBody>
                    <a:bodyPr/>
                    <a:lstStyle/>
                    <a:p>
                      <a:r>
                        <a:rPr sz="1100" b="1">
                          <a:solidFill>
                            <a:srgbClr val="202124"/>
                          </a:solidFill>
                        </a:rPr>
                        <a:t>Hexagon v73 NSP</a:t>
                      </a:r>
                    </a:p>
                  </a:txBody>
                  <a:tcPr/>
                </a:tc>
                <a:tc>
                  <a:txBody>
                    <a:bodyPr/>
                    <a:lstStyle/>
                    <a:p>
                      <a:r>
                        <a:rPr sz="1100" b="0">
                          <a:solidFill>
                            <a:srgbClr val="202124"/>
                          </a:solidFill>
                        </a:rPr>
                        <a:t>--</a:t>
                      </a:r>
                    </a:p>
                  </a:txBody>
                  <a:tcPr/>
                </a:tc>
                <a:tc>
                  <a:txBody>
                    <a:bodyPr/>
                    <a:lstStyle/>
                    <a:p>
                      <a:r>
                        <a:rPr sz="1100" b="1">
                          <a:solidFill>
                            <a:srgbClr val="202124"/>
                          </a:solidFill>
                        </a:rPr>
                        <a:t>6.8</a:t>
                      </a:r>
                    </a:p>
                  </a:txBody>
                  <a:tcPr/>
                </a:tc>
                <a:tc>
                  <a:txBody>
                    <a:bodyPr/>
                    <a:lstStyle/>
                    <a:p>
                      <a:r>
                        <a:rPr sz="1100" b="0">
                          <a:solidFill>
                            <a:srgbClr val="202124"/>
                          </a:solidFill>
                        </a:rPr>
                        <a:t>28</a:t>
                      </a:r>
                    </a:p>
                  </a:txBody>
                  <a:tcPr/>
                </a:tc>
                <a:tc>
                  <a:txBody>
                    <a:bodyPr/>
                    <a:lstStyle/>
                    <a:p>
                      <a:r>
                        <a:rPr sz="1100" b="0">
                          <a:solidFill>
                            <a:srgbClr val="202124"/>
                          </a:solidFill>
                        </a:rPr>
                        <a:t>24%</a:t>
                      </a:r>
                    </a:p>
                  </a:txBody>
                  <a:tcPr/>
                </a:tc>
                <a:tc>
                  <a:txBody>
                    <a:bodyPr/>
                    <a:lstStyle/>
                    <a:p>
                      <a:r>
                        <a:rPr sz="1100" b="0">
                          <a:solidFill>
                            <a:srgbClr val="202124"/>
                          </a:solidFill>
                        </a:rPr>
                        <a:t>LATENCY-bound (28 GB/s available, 6.8 used)</a:t>
                      </a:r>
                    </a:p>
                  </a:txBody>
                  <a:tcPr/>
                </a:tc>
              </a:tr>
              <a:tr h="310896">
                <a:tc>
                  <a:txBody>
                    <a:bodyPr/>
                    <a:lstStyle/>
                    <a:p>
                      <a:r>
                        <a:rPr sz="1100" b="1">
                          <a:solidFill>
                            <a:srgbClr val="202124"/>
                          </a:solidFill>
                        </a:rPr>
                        <a:t>8x Cortex-A78C</a:t>
                      </a:r>
                    </a:p>
                  </a:txBody>
                  <a:tcPr/>
                </a:tc>
                <a:tc>
                  <a:txBody>
                    <a:bodyPr/>
                    <a:lstStyle/>
                    <a:p>
                      <a:r>
                        <a:rPr sz="1100" b="0">
                          <a:solidFill>
                            <a:srgbClr val="202124"/>
                          </a:solidFill>
                        </a:rPr>
                        <a:t>--</a:t>
                      </a:r>
                    </a:p>
                  </a:txBody>
                  <a:tcPr/>
                </a:tc>
                <a:tc>
                  <a:txBody>
                    <a:bodyPr/>
                    <a:lstStyle/>
                    <a:p>
                      <a:r>
                        <a:rPr sz="1100" b="1">
                          <a:solidFill>
                            <a:srgbClr val="202124"/>
                          </a:solidFill>
                        </a:rPr>
                        <a:t>3.4</a:t>
                      </a:r>
                    </a:p>
                  </a:txBody>
                  <a:tcPr/>
                </a:tc>
                <a:tc>
                  <a:txBody>
                    <a:bodyPr/>
                    <a:lstStyle/>
                    <a:p>
                      <a:r>
                        <a:rPr sz="1100" b="0">
                          <a:solidFill>
                            <a:srgbClr val="202124"/>
                          </a:solidFill>
                        </a:rPr>
                        <a:t>27.1</a:t>
                      </a:r>
                    </a:p>
                  </a:txBody>
                  <a:tcPr/>
                </a:tc>
                <a:tc>
                  <a:txBody>
                    <a:bodyPr/>
                    <a:lstStyle/>
                    <a:p>
                      <a:r>
                        <a:rPr sz="1100" b="0">
                          <a:solidFill>
                            <a:srgbClr val="202124"/>
                          </a:solidFill>
                        </a:rPr>
                        <a:t>13%</a:t>
                      </a:r>
                    </a:p>
                  </a:txBody>
                  <a:tcPr/>
                </a:tc>
                <a:tc>
                  <a:txBody>
                    <a:bodyPr/>
                    <a:lstStyle/>
                    <a:p>
                      <a:r>
                        <a:rPr sz="1100" b="0">
                          <a:solidFill>
                            <a:srgbClr val="202124"/>
                          </a:solidFill>
                        </a:rPr>
                        <a:t>compute-bound on A; ceiling MEASURED via copy probe</a:t>
                      </a:r>
                    </a:p>
                  </a:txBody>
                  <a:tcPr/>
                </a:tc>
              </a:tr>
              <a:tr h="310896">
                <a:tc>
                  <a:txBody>
                    <a:bodyPr/>
                    <a:lstStyle/>
                    <a:p>
                      <a:r>
                        <a:rPr sz="1100" b="1">
                          <a:solidFill>
                            <a:srgbClr val="202124"/>
                          </a:solidFill>
                        </a:rPr>
                        <a:t>6x Cortex-A55</a:t>
                      </a:r>
                    </a:p>
                  </a:txBody>
                  <a:tcPr/>
                </a:tc>
                <a:tc>
                  <a:txBody>
                    <a:bodyPr/>
                    <a:lstStyle/>
                    <a:p>
                      <a:r>
                        <a:rPr sz="1100" b="0">
                          <a:solidFill>
                            <a:srgbClr val="202124"/>
                          </a:solidFill>
                        </a:rPr>
                        <a:t>--</a:t>
                      </a:r>
                    </a:p>
                  </a:txBody>
                  <a:tcPr/>
                </a:tc>
                <a:tc>
                  <a:txBody>
                    <a:bodyPr/>
                    <a:lstStyle/>
                    <a:p>
                      <a:r>
                        <a:rPr sz="1100" b="1">
                          <a:solidFill>
                            <a:srgbClr val="202124"/>
                          </a:solidFill>
                        </a:rPr>
                        <a:t>1.1</a:t>
                      </a:r>
                    </a:p>
                  </a:txBody>
                  <a:tcPr/>
                </a:tc>
                <a:tc>
                  <a:txBody>
                    <a:bodyPr/>
                    <a:lstStyle/>
                    <a:p>
                      <a:r>
                        <a:rPr sz="1100" b="0">
                          <a:solidFill>
                            <a:srgbClr val="202124"/>
                          </a:solidFill>
                        </a:rPr>
                        <a:t>13.7</a:t>
                      </a:r>
                    </a:p>
                  </a:txBody>
                  <a:tcPr/>
                </a:tc>
                <a:tc>
                  <a:txBody>
                    <a:bodyPr/>
                    <a:lstStyle/>
                    <a:p>
                      <a:r>
                        <a:rPr sz="1100" b="0">
                          <a:solidFill>
                            <a:srgbClr val="202124"/>
                          </a:solidFill>
                        </a:rPr>
                        <a:t>8%</a:t>
                      </a:r>
                    </a:p>
                  </a:txBody>
                  <a:tcPr/>
                </a:tc>
                <a:tc>
                  <a:txBody>
                    <a:bodyPr/>
                    <a:lstStyle/>
                    <a:p>
                      <a:r>
                        <a:rPr sz="1100" b="0">
                          <a:solidFill>
                            <a:srgbClr val="202124"/>
                          </a:solidFill>
                        </a:rPr>
                        <a:t>compute-bound</a:t>
                      </a:r>
                    </a:p>
                  </a:txBody>
                  <a:tcPr/>
                </a:tc>
              </a:tr>
            </a:tbl>
          </a:graphicData>
        </a:graphic>
      </p:graphicFrame>
      <p:sp>
        <p:nvSpPr>
          <p:cNvPr id="5" name="TextBox 4"/>
          <p:cNvSpPr txBox="1"/>
          <p:nvPr/>
        </p:nvSpPr>
        <p:spPr>
          <a:xfrm>
            <a:off x="548640" y="4937760"/>
            <a:ext cx="11155680" cy="822960"/>
          </a:xfrm>
          <a:prstGeom prst="rect">
            <a:avLst/>
          </a:prstGeom>
          <a:noFill/>
        </p:spPr>
        <p:txBody>
          <a:bodyPr wrap="square">
            <a:spAutoFit/>
          </a:bodyPr>
          <a:lstStyle/>
          <a:p>
            <a:pPr algn="l"/>
            <a:r>
              <a:rPr sz="1250" b="1">
                <a:solidFill>
                  <a:srgbClr val="202124"/>
                </a:solidFill>
                <a:latin typeface="Calibri"/>
              </a:rPr>
              <a:t>One column, two walls: the NVIDIA GPUs sit at 42-58% of their measured ceilings -- memory-bound, which is why their optimisation ended at traffic reduction. The CPUs and Malis sit at 8-35% -- NOT bandwidth-bound, which is why their wins came from arithmetic (vectorised argmin, blocking, lane tricks). The Hexagon is a third wall: latency-bound, hidden by interleaving independent dependency chains.</a:t>
            </a:r>
          </a:p>
        </p:txBody>
      </p:sp>
      <p:sp>
        <p:nvSpPr>
          <p:cNvPr id="6" name="TextBox 5"/>
          <p:cNvSpPr txBox="1"/>
          <p:nvPr/>
        </p:nvSpPr>
        <p:spPr>
          <a:xfrm>
            <a:off x="548640" y="5943600"/>
            <a:ext cx="11155680" cy="640080"/>
          </a:xfrm>
          <a:prstGeom prst="rect">
            <a:avLst/>
          </a:prstGeom>
          <a:noFill/>
        </p:spPr>
        <p:txBody>
          <a:bodyPr wrap="square">
            <a:spAutoFit/>
          </a:bodyPr>
          <a:lstStyle/>
          <a:p>
            <a:pPr algn="l"/>
            <a:r>
              <a:rPr sz="1100" b="0">
                <a:solidFill>
                  <a:srgbClr val="5F6368"/>
                </a:solidFill>
                <a:latin typeface="Calibri"/>
              </a:rPr>
              <a:t>Cross-GPU sanity: MDE/s per GB/s of ceiling is 27 / 40 / 33 across a 7.9x bandwidth spread -- throughput largely IS bandwidth for the tuned GPU kernels, and the residual (the 5090's 42%) says the fastest part is no longer purely bandwidth-bound. Configuration B gets its own version of this slide two slides ahead -- with six of its achieved cells directly MEASURED at three independent DRAM instruments.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Configuration B moves the memory walls</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150" b="0">
                <a:solidFill>
                  <a:srgbClr val="5F6368"/>
                </a:solidFill>
                <a:latin typeface="Calibri"/>
              </a:rPr>
              <a:t>Same slide for the block-flavoured workload (1920x800, two scales, 8 paths). The 8-path uint16 S-plane streams ~3.1 GB per frame on its own; the pipeline's streaming byte model totals 4.50 GB/frame. Three cells are MEASURED at the i.MX95 DDR controller and two more by Jetson EMC sampling (green); the † cells are DERIVED as 4.50 GB / the measured frame time. One cell was WITHDRAWN today after its instrument failed a control experiment -- the red row.</a:t>
            </a:r>
          </a:p>
        </p:txBody>
      </p:sp>
      <p:graphicFrame>
        <p:nvGraphicFramePr>
          <p:cNvPr id="4" name="Table 3"/>
          <p:cNvGraphicFramePr>
            <a:graphicFrameLocks noGrp="1"/>
          </p:cNvGraphicFramePr>
          <p:nvPr/>
        </p:nvGraphicFramePr>
        <p:xfrm>
          <a:off x="548640" y="1572768"/>
          <a:ext cx="11064240" cy="3209544"/>
        </p:xfrm>
        <a:graphic>
          <a:graphicData uri="http://schemas.openxmlformats.org/drawingml/2006/table">
            <a:tbl>
              <a:tblPr firstRow="1" bandRow="1">
                <a:tableStyleId>{5C22544A-7EE6-4342-B048-85BDC9FD1C3A}</a:tableStyleId>
              </a:tblPr>
              <a:tblGrid>
                <a:gridCol w="2194560"/>
                <a:gridCol w="1188720"/>
                <a:gridCol w="1371600"/>
                <a:gridCol w="1280160"/>
                <a:gridCol w="914400"/>
                <a:gridCol w="4114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frame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246888">
                <a:tc>
                  <a:txBody>
                    <a:bodyPr/>
                    <a:lstStyle/>
                    <a:p>
                      <a:r>
                        <a:rPr sz="950" b="1">
                          <a:solidFill>
                            <a:srgbClr val="202124"/>
                          </a:solidFill>
                        </a:rPr>
                        <a:t>NVIDIA RTX 5090</a:t>
                      </a:r>
                    </a:p>
                  </a:txBody>
                  <a:tcPr/>
                </a:tc>
                <a:tc>
                  <a:txBody>
                    <a:bodyPr/>
                    <a:lstStyle/>
                    <a:p>
                      <a:r>
                        <a:rPr sz="950" b="0">
                          <a:solidFill>
                            <a:srgbClr val="202124"/>
                          </a:solidFill>
                        </a:rPr>
                        <a:t>9.08 ms</a:t>
                      </a:r>
                    </a:p>
                  </a:txBody>
                  <a:tcPr/>
                </a:tc>
                <a:tc>
                  <a:txBody>
                    <a:bodyPr/>
                    <a:lstStyle/>
                    <a:p>
                      <a:r>
                        <a:rPr sz="950" b="1">
                          <a:solidFill>
                            <a:srgbClr val="202124"/>
                          </a:solidFill>
                        </a:rPr>
                        <a:t>495 †</a:t>
                      </a:r>
                    </a:p>
                  </a:txBody>
                  <a:tcPr/>
                </a:tc>
                <a:tc>
                  <a:txBody>
                    <a:bodyPr/>
                    <a:lstStyle/>
                    <a:p>
                      <a:r>
                        <a:rPr sz="950" b="0">
                          <a:solidFill>
                            <a:srgbClr val="202124"/>
                          </a:solidFill>
                        </a:rPr>
                        <a:t>1,385</a:t>
                      </a:r>
                    </a:p>
                  </a:txBody>
                  <a:tcPr/>
                </a:tc>
                <a:tc>
                  <a:txBody>
                    <a:bodyPr/>
                    <a:lstStyle/>
                    <a:p>
                      <a:r>
                        <a:rPr sz="950" b="0">
                          <a:solidFill>
                            <a:srgbClr val="202124"/>
                          </a:solidFill>
                        </a:rPr>
                        <a:t>36%</a:t>
                      </a:r>
                    </a:p>
                  </a:txBody>
                  <a:tcPr/>
                </a:tc>
                <a:tc>
                  <a:txBody>
                    <a:bodyPr/>
                    <a:lstStyle/>
                    <a:p>
                      <a:r>
                        <a:rPr sz="950" b="0">
                          <a:solidFill>
                            <a:srgbClr val="202124"/>
                          </a:solidFill>
                        </a:rPr>
                        <a:t>memory-bound; below A's 42% (kernel lacks path-pairing)</a:t>
                      </a:r>
                    </a:p>
                  </a:txBody>
                  <a:tcPr/>
                </a:tc>
              </a:tr>
              <a:tr h="246888">
                <a:tc>
                  <a:txBody>
                    <a:bodyPr/>
                    <a:lstStyle/>
                    <a:p>
                      <a:r>
                        <a:rPr sz="950" b="1">
                          <a:solidFill>
                            <a:srgbClr val="202124"/>
                          </a:solidFill>
                        </a:rPr>
                        <a:t>NVIDIA Thor</a:t>
                      </a:r>
                    </a:p>
                  </a:txBody>
                  <a:tcPr/>
                </a:tc>
                <a:tc>
                  <a:txBody>
                    <a:bodyPr/>
                    <a:lstStyle/>
                    <a:p>
                      <a:r>
                        <a:rPr sz="950" b="0">
                          <a:solidFill>
                            <a:srgbClr val="202124"/>
                          </a:solidFill>
                        </a:rPr>
                        <a:t>45.1 ms</a:t>
                      </a:r>
                    </a:p>
                  </a:txBody>
                  <a:tcPr/>
                </a:tc>
                <a:tc>
                  <a:txBody>
                    <a:bodyPr/>
                    <a:lstStyle/>
                    <a:p>
                      <a:r>
                        <a:rPr sz="950" b="1">
                          <a:solidFill>
                            <a:srgbClr val="202124"/>
                          </a:solidFill>
                        </a:rPr>
                        <a:t>100 †</a:t>
                      </a:r>
                    </a:p>
                  </a:txBody>
                  <a:tcPr/>
                </a:tc>
                <a:tc>
                  <a:txBody>
                    <a:bodyPr/>
                    <a:lstStyle/>
                    <a:p>
                      <a:r>
                        <a:rPr sz="950" b="0">
                          <a:solidFill>
                            <a:srgbClr val="202124"/>
                          </a:solidFill>
                        </a:rPr>
                        <a:t>249</a:t>
                      </a:r>
                    </a:p>
                  </a:txBody>
                  <a:tcPr/>
                </a:tc>
                <a:tc>
                  <a:txBody>
                    <a:bodyPr/>
                    <a:lstStyle/>
                    <a:p>
                      <a:r>
                        <a:rPr sz="950" b="0">
                          <a:solidFill>
                            <a:srgbClr val="202124"/>
                          </a:solidFill>
                        </a:rPr>
                        <a:t>24%</a:t>
                      </a:r>
                    </a:p>
                  </a:txBody>
                  <a:tcPr/>
                </a:tc>
                <a:tc>
                  <a:txBody>
                    <a:bodyPr/>
                    <a:lstStyle/>
                    <a:p>
                      <a:r>
                        <a:rPr sz="950" b="0">
                          <a:solidFill>
                            <a:srgbClr val="202124"/>
                          </a:solidFill>
                        </a:rPr>
                        <a:t>EMC net-of-idle, measured; ≈ the model's 40% freq-normalized</a:t>
                      </a:r>
                    </a:p>
                  </a:txBody>
                  <a:tcPr/>
                </a:tc>
              </a:tr>
              <a:tr h="246888">
                <a:tc>
                  <a:txBody>
                    <a:bodyPr/>
                    <a:lstStyle/>
                    <a:p>
                      <a:r>
                        <a:rPr sz="950" b="1">
                          <a:solidFill>
                            <a:srgbClr val="202124"/>
                          </a:solidFill>
                        </a:rPr>
                        <a:t>NVIDIA Orin AGX</a:t>
                      </a:r>
                    </a:p>
                  </a:txBody>
                  <a:tcPr/>
                </a:tc>
                <a:tc>
                  <a:txBody>
                    <a:bodyPr/>
                    <a:lstStyle/>
                    <a:p>
                      <a:r>
                        <a:rPr sz="950" b="0">
                          <a:solidFill>
                            <a:srgbClr val="202124"/>
                          </a:solidFill>
                        </a:rPr>
                        <a:t>72.8 ms</a:t>
                      </a:r>
                    </a:p>
                  </a:txBody>
                  <a:tcPr/>
                </a:tc>
                <a:tc>
                  <a:txBody>
                    <a:bodyPr/>
                    <a:lstStyle/>
                    <a:p>
                      <a:r>
                        <a:rPr sz="950" b="1">
                          <a:solidFill>
                            <a:srgbClr val="202124"/>
                          </a:solidFill>
                        </a:rPr>
                        <a:t>62 †</a:t>
                      </a:r>
                    </a:p>
                  </a:txBody>
                  <a:tcPr/>
                </a:tc>
                <a:tc>
                  <a:txBody>
                    <a:bodyPr/>
                    <a:lstStyle/>
                    <a:p>
                      <a:r>
                        <a:rPr sz="950" b="0">
                          <a:solidFill>
                            <a:srgbClr val="202124"/>
                          </a:solidFill>
                        </a:rPr>
                        <a:t>175</a:t>
                      </a:r>
                    </a:p>
                  </a:txBody>
                  <a:tcPr/>
                </a:tc>
                <a:tc>
                  <a:txBody>
                    <a:bodyPr/>
                    <a:lstStyle/>
                    <a:p>
                      <a:r>
                        <a:rPr sz="950" b="0">
                          <a:solidFill>
                            <a:srgbClr val="202124"/>
                          </a:solidFill>
                        </a:rPr>
                        <a:t>25%</a:t>
                      </a:r>
                    </a:p>
                  </a:txBody>
                  <a:tcPr/>
                </a:tc>
                <a:tc>
                  <a:txBody>
                    <a:bodyPr/>
                    <a:lstStyle/>
                    <a:p>
                      <a:r>
                        <a:rPr sz="950" b="0">
                          <a:solidFill>
                            <a:srgbClr val="202124"/>
                          </a:solidFill>
                        </a:rPr>
                        <a:t>EMC net-of-idle, measured; memory-bound</a:t>
                      </a:r>
                    </a:p>
                  </a:txBody>
                  <a:tcPr/>
                </a:tc>
              </a:tr>
              <a:tr h="246888">
                <a:tc>
                  <a:txBody>
                    <a:bodyPr/>
                    <a:lstStyle/>
                    <a:p>
                      <a:r>
                        <a:rPr sz="950" b="1">
                          <a:solidFill>
                            <a:srgbClr val="202124"/>
                          </a:solidFill>
                        </a:rPr>
                        <a:t>Thor OFA (ds=2)</a:t>
                      </a:r>
                    </a:p>
                  </a:txBody>
                  <a:tcPr/>
                </a:tc>
                <a:tc>
                  <a:txBody>
                    <a:bodyPr/>
                    <a:lstStyle/>
                    <a:p>
                      <a:r>
                        <a:rPr sz="950" b="0">
                          <a:solidFill>
                            <a:srgbClr val="202124"/>
                          </a:solidFill>
                        </a:rPr>
                        <a:t>3.38 ms</a:t>
                      </a:r>
                    </a:p>
                  </a:txBody>
                  <a:tcPr/>
                </a:tc>
                <a:tc>
                  <a:txBody>
                    <a:bodyPr/>
                    <a:lstStyle/>
                    <a:p>
                      <a:r>
                        <a:rPr sz="950" b="1">
                          <a:solidFill>
                            <a:srgbClr val="187A33"/>
                          </a:solidFill>
                        </a:rPr>
                        <a:t>≈0 measured</a:t>
                      </a:r>
                    </a:p>
                  </a:txBody>
                  <a:tcPr/>
                </a:tc>
                <a:tc>
                  <a:txBody>
                    <a:bodyPr/>
                    <a:lstStyle/>
                    <a:p>
                      <a:r>
                        <a:rPr sz="950" b="0">
                          <a:solidFill>
                            <a:srgbClr val="202124"/>
                          </a:solidFill>
                        </a:rPr>
                        <a:t>249</a:t>
                      </a:r>
                    </a:p>
                  </a:txBody>
                  <a:tcPr/>
                </a:tc>
                <a:tc>
                  <a:txBody>
                    <a:bodyPr/>
                    <a:lstStyle/>
                    <a:p>
                      <a:r>
                        <a:rPr sz="950" b="0">
                          <a:solidFill>
                            <a:srgbClr val="202124"/>
                          </a:solidFill>
                        </a:rPr>
                        <a:t>1.4%</a:t>
                      </a:r>
                    </a:p>
                  </a:txBody>
                  <a:tcPr/>
                </a:tc>
                <a:tc>
                  <a:txBody>
                    <a:bodyPr/>
                    <a:lstStyle/>
                    <a:p>
                      <a:r>
                        <a:rPr sz="950" b="0">
                          <a:solidFill>
                            <a:srgbClr val="202124"/>
                          </a:solidFill>
                        </a:rPr>
                        <a:t>EMC indistinguishable from idle at 296 fps — the block runs in its internals</a:t>
                      </a:r>
                    </a:p>
                  </a:txBody>
                  <a:tcPr/>
                </a:tc>
              </a:tr>
              <a:tr h="246888">
                <a:tc>
                  <a:txBody>
                    <a:bodyPr/>
                    <a:lstStyle/>
                    <a:p>
                      <a:r>
                        <a:rPr sz="950" b="1">
                          <a:solidFill>
                            <a:srgbClr val="202124"/>
                          </a:solidFill>
                        </a:rPr>
                        <a:t>Orin OFA (ds=2)</a:t>
                      </a:r>
                    </a:p>
                  </a:txBody>
                  <a:tcPr/>
                </a:tc>
                <a:tc>
                  <a:txBody>
                    <a:bodyPr/>
                    <a:lstStyle/>
                    <a:p>
                      <a:r>
                        <a:rPr sz="950" b="0">
                          <a:solidFill>
                            <a:srgbClr val="202124"/>
                          </a:solidFill>
                        </a:rPr>
                        <a:t>14.9 ms</a:t>
                      </a:r>
                    </a:p>
                  </a:txBody>
                  <a:tcPr/>
                </a:tc>
                <a:tc>
                  <a:txBody>
                    <a:bodyPr/>
                    <a:lstStyle/>
                    <a:p>
                      <a:r>
                        <a:rPr sz="950" b="1">
                          <a:solidFill>
                            <a:srgbClr val="187A33"/>
                          </a:solidFill>
                        </a:rPr>
                        <a:t>≈0.7 measured</a:t>
                      </a:r>
                    </a:p>
                  </a:txBody>
                  <a:tcPr/>
                </a:tc>
                <a:tc>
                  <a:txBody>
                    <a:bodyPr/>
                    <a:lstStyle/>
                    <a:p>
                      <a:r>
                        <a:rPr sz="950" b="0">
                          <a:solidFill>
                            <a:srgbClr val="202124"/>
                          </a:solidFill>
                        </a:rPr>
                        <a:t>175</a:t>
                      </a:r>
                    </a:p>
                  </a:txBody>
                  <a:tcPr/>
                </a:tc>
                <a:tc>
                  <a:txBody>
                    <a:bodyPr/>
                    <a:lstStyle/>
                    <a:p>
                      <a:r>
                        <a:rPr sz="950" b="0">
                          <a:solidFill>
                            <a:srgbClr val="202124"/>
                          </a:solidFill>
                        </a:rPr>
                        <a:t>0.9%</a:t>
                      </a:r>
                    </a:p>
                  </a:txBody>
                  <a:tcPr/>
                </a:tc>
                <a:tc>
                  <a:txBody>
                    <a:bodyPr/>
                    <a:lstStyle/>
                    <a:p>
                      <a:r>
                        <a:rPr sz="950" b="0">
                          <a:solidFill>
                            <a:srgbClr val="202124"/>
                          </a:solidFill>
                        </a:rPr>
                        <a:t>≈ exactly the irreducible in+out images (67 fps × ~6 MB)</a:t>
                      </a:r>
                    </a:p>
                  </a:txBody>
                  <a:tcPr/>
                </a:tc>
              </a:tr>
              <a:tr h="246888">
                <a:tc>
                  <a:txBody>
                    <a:bodyPr/>
                    <a:lstStyle/>
                    <a:p>
                      <a:r>
                        <a:rPr sz="950" b="1">
                          <a:solidFill>
                            <a:srgbClr val="202124"/>
                          </a:solidFill>
                        </a:rPr>
                        <a:t>8x Cortex-A78C</a:t>
                      </a:r>
                    </a:p>
                  </a:txBody>
                  <a:tcPr/>
                </a:tc>
                <a:tc>
                  <a:txBody>
                    <a:bodyPr/>
                    <a:lstStyle/>
                    <a:p>
                      <a:r>
                        <a:rPr sz="950" b="0">
                          <a:solidFill>
                            <a:srgbClr val="202124"/>
                          </a:solidFill>
                        </a:rPr>
                        <a:t>211.9 ms</a:t>
                      </a:r>
                    </a:p>
                  </a:txBody>
                  <a:tcPr/>
                </a:tc>
                <a:tc>
                  <a:txBody>
                    <a:bodyPr/>
                    <a:lstStyle/>
                    <a:p>
                      <a:r>
                        <a:rPr sz="950" b="1">
                          <a:solidFill>
                            <a:srgbClr val="202124"/>
                          </a:solidFill>
                        </a:rPr>
                        <a:t>withdrawn</a:t>
                      </a:r>
                    </a:p>
                  </a:txBody>
                  <a:tcPr/>
                </a:tc>
                <a:tc>
                  <a:txBody>
                    <a:bodyPr/>
                    <a:lstStyle/>
                    <a:p>
                      <a:r>
                        <a:rPr sz="950" b="0">
                          <a:solidFill>
                            <a:srgbClr val="202124"/>
                          </a:solidFill>
                        </a:rPr>
                        <a:t>27.1</a:t>
                      </a:r>
                    </a:p>
                  </a:txBody>
                  <a:tcPr/>
                </a:tc>
                <a:tc>
                  <a:txBody>
                    <a:bodyPr/>
                    <a:lstStyle/>
                    <a:p>
                      <a:r>
                        <a:rPr sz="950" b="0">
                          <a:solidFill>
                            <a:srgbClr val="202124"/>
                          </a:solidFill>
                        </a:rPr>
                        <a:t>--</a:t>
                      </a:r>
                    </a:p>
                  </a:txBody>
                  <a:tcPr/>
                </a:tc>
                <a:tc>
                  <a:txBody>
                    <a:bodyPr/>
                    <a:lstStyle/>
                    <a:p>
                      <a:r>
                        <a:rPr sz="950" b="0">
                          <a:solidFill>
                            <a:srgbClr val="202124"/>
                          </a:solidFill>
                        </a:rPr>
                        <a:t>🔴 window-dependent: 11.8 / 22.8 / 36.4 GB/s at 5 / mid / 40 frames -- see note</a:t>
                      </a:r>
                    </a:p>
                  </a:txBody>
                  <a:tcPr/>
                </a:tc>
              </a:tr>
              <a:tr h="246888">
                <a:tc>
                  <a:txBody>
                    <a:bodyPr/>
                    <a:lstStyle/>
                    <a:p>
                      <a:r>
                        <a:rPr sz="950" b="1">
                          <a:solidFill>
                            <a:srgbClr val="202124"/>
                          </a:solidFill>
                        </a:rPr>
                        <a:t>8x Cortex-A720</a:t>
                      </a:r>
                    </a:p>
                  </a:txBody>
                  <a:tcPr/>
                </a:tc>
                <a:tc>
                  <a:txBody>
                    <a:bodyPr/>
                    <a:lstStyle/>
                    <a:p>
                      <a:r>
                        <a:rPr sz="950" b="0">
                          <a:solidFill>
                            <a:srgbClr val="202124"/>
                          </a:solidFill>
                        </a:rPr>
                        <a:t>238.3 ms</a:t>
                      </a:r>
                    </a:p>
                  </a:txBody>
                  <a:tcPr/>
                </a:tc>
                <a:tc>
                  <a:txBody>
                    <a:bodyPr/>
                    <a:lstStyle/>
                    <a:p>
                      <a:r>
                        <a:rPr sz="950" b="1">
                          <a:solidFill>
                            <a:srgbClr val="202124"/>
                          </a:solidFill>
                        </a:rPr>
                        <a:t>18.9 †</a:t>
                      </a:r>
                    </a:p>
                  </a:txBody>
                  <a:tcPr/>
                </a:tc>
                <a:tc>
                  <a:txBody>
                    <a:bodyPr/>
                    <a:lstStyle/>
                    <a:p>
                      <a:r>
                        <a:rPr sz="950" b="0">
                          <a:solidFill>
                            <a:srgbClr val="202124"/>
                          </a:solidFill>
                        </a:rPr>
                        <a:t>46.3</a:t>
                      </a:r>
                    </a:p>
                  </a:txBody>
                  <a:tcPr/>
                </a:tc>
                <a:tc>
                  <a:txBody>
                    <a:bodyPr/>
                    <a:lstStyle/>
                    <a:p>
                      <a:r>
                        <a:rPr sz="950" b="0">
                          <a:solidFill>
                            <a:srgbClr val="202124"/>
                          </a:solidFill>
                        </a:rPr>
                        <a:t>41%</a:t>
                      </a:r>
                    </a:p>
                  </a:txBody>
                  <a:tcPr/>
                </a:tc>
                <a:tc>
                  <a:txBody>
                    <a:bodyPr/>
                    <a:lstStyle/>
                    <a:p>
                      <a:r>
                        <a:rPr sz="950" b="0">
                          <a:solidFill>
                            <a:srgbClr val="202124"/>
                          </a:solidFill>
                        </a:rPr>
                        <a:t>was 14% on A -- no longer comfortably compute-bound</a:t>
                      </a:r>
                    </a:p>
                  </a:txBody>
                  <a:tcPr/>
                </a:tc>
              </a:tr>
              <a:tr h="246888">
                <a:tc>
                  <a:txBody>
                    <a:bodyPr/>
                    <a:lstStyle/>
                    <a:p>
                      <a:r>
                        <a:rPr sz="950" b="1">
                          <a:solidFill>
                            <a:srgbClr val="202124"/>
                          </a:solidFill>
                        </a:rPr>
                        <a:t>Hexagon v73 NSP</a:t>
                      </a:r>
                    </a:p>
                  </a:txBody>
                  <a:tcPr/>
                </a:tc>
                <a:tc>
                  <a:txBody>
                    <a:bodyPr/>
                    <a:lstStyle/>
                    <a:p>
                      <a:r>
                        <a:rPr sz="950" b="0">
                          <a:solidFill>
                            <a:srgbClr val="202124"/>
                          </a:solidFill>
                        </a:rPr>
                        <a:t>276.3 ms</a:t>
                      </a:r>
                    </a:p>
                  </a:txBody>
                  <a:tcPr/>
                </a:tc>
                <a:tc>
                  <a:txBody>
                    <a:bodyPr/>
                    <a:lstStyle/>
                    <a:p>
                      <a:r>
                        <a:rPr sz="950" b="1">
                          <a:solidFill>
                            <a:srgbClr val="202124"/>
                          </a:solidFill>
                        </a:rPr>
                        <a:t>~16 †</a:t>
                      </a:r>
                    </a:p>
                  </a:txBody>
                  <a:tcPr/>
                </a:tc>
                <a:tc>
                  <a:txBody>
                    <a:bodyPr/>
                    <a:lstStyle/>
                    <a:p>
                      <a:r>
                        <a:rPr sz="950" b="0">
                          <a:solidFill>
                            <a:srgbClr val="202124"/>
                          </a:solidFill>
                        </a:rPr>
                        <a:t>28</a:t>
                      </a:r>
                    </a:p>
                  </a:txBody>
                  <a:tcPr/>
                </a:tc>
                <a:tc>
                  <a:txBody>
                    <a:bodyPr/>
                    <a:lstStyle/>
                    <a:p>
                      <a:r>
                        <a:rPr sz="950" b="0">
                          <a:solidFill>
                            <a:srgbClr val="202124"/>
                          </a:solidFill>
                        </a:rPr>
                        <a:t>~56%</a:t>
                      </a:r>
                    </a:p>
                  </a:txBody>
                  <a:tcPr/>
                </a:tc>
                <a:tc>
                  <a:txBody>
                    <a:bodyPr/>
                    <a:lstStyle/>
                    <a:p>
                      <a:r>
                        <a:rPr sz="950" b="0">
                          <a:solidFill>
                            <a:srgbClr val="202124"/>
                          </a:solidFill>
                        </a:rPr>
                        <a:t>approximate: their fused kernel parks state in VTCM</a:t>
                      </a:r>
                    </a:p>
                  </a:txBody>
                  <a:tcPr/>
                </a:tc>
              </a:tr>
              <a:tr h="246888">
                <a:tc>
                  <a:txBody>
                    <a:bodyPr/>
                    <a:lstStyle/>
                    <a:p>
                      <a:r>
                        <a:rPr sz="950" b="1">
                          <a:solidFill>
                            <a:srgbClr val="202124"/>
                          </a:solidFill>
                        </a:rPr>
                        <a:t>Mali-G720 (10 CU)</a:t>
                      </a:r>
                    </a:p>
                  </a:txBody>
                  <a:tcPr/>
                </a:tc>
                <a:tc>
                  <a:txBody>
                    <a:bodyPr/>
                    <a:lstStyle/>
                    <a:p>
                      <a:r>
                        <a:rPr sz="950" b="0">
                          <a:solidFill>
                            <a:srgbClr val="202124"/>
                          </a:solidFill>
                        </a:rPr>
                        <a:t>380.0 ms</a:t>
                      </a:r>
                    </a:p>
                  </a:txBody>
                  <a:tcPr/>
                </a:tc>
                <a:tc>
                  <a:txBody>
                    <a:bodyPr/>
                    <a:lstStyle/>
                    <a:p>
                      <a:r>
                        <a:rPr sz="950" b="1">
                          <a:solidFill>
                            <a:srgbClr val="202124"/>
                          </a:solidFill>
                        </a:rPr>
                        <a:t>11.8 †</a:t>
                      </a:r>
                    </a:p>
                  </a:txBody>
                  <a:tcPr/>
                </a:tc>
                <a:tc>
                  <a:txBody>
                    <a:bodyPr/>
                    <a:lstStyle/>
                    <a:p>
                      <a:r>
                        <a:rPr sz="950" b="0">
                          <a:solidFill>
                            <a:srgbClr val="202124"/>
                          </a:solidFill>
                        </a:rPr>
                        <a:t>46.3</a:t>
                      </a:r>
                    </a:p>
                  </a:txBody>
                  <a:tcPr/>
                </a:tc>
                <a:tc>
                  <a:txBody>
                    <a:bodyPr/>
                    <a:lstStyle/>
                    <a:p>
                      <a:r>
                        <a:rPr sz="950" b="0">
                          <a:solidFill>
                            <a:srgbClr val="202124"/>
                          </a:solidFill>
                        </a:rPr>
                        <a:t>26%</a:t>
                      </a:r>
                    </a:p>
                  </a:txBody>
                  <a:tcPr/>
                </a:tc>
                <a:tc>
                  <a:txBody>
                    <a:bodyPr/>
                    <a:lstStyle/>
                    <a:p>
                      <a:r>
                        <a:rPr sz="950" b="0">
                          <a:solidFill>
                            <a:srgbClr val="202124"/>
                          </a:solidFill>
                        </a:rPr>
                        <a:t>not bandwidth-bound</a:t>
                      </a:r>
                    </a:p>
                  </a:txBody>
                  <a:tcPr/>
                </a:tc>
              </a:tr>
              <a:tr h="246888">
                <a:tc>
                  <a:txBody>
                    <a:bodyPr/>
                    <a:lstStyle/>
                    <a:p>
                      <a:r>
                        <a:rPr sz="950" b="1">
                          <a:solidFill>
                            <a:srgbClr val="202124"/>
                          </a:solidFill>
                        </a:rPr>
                        <a:t>6x Cortex-A55</a:t>
                      </a:r>
                    </a:p>
                  </a:txBody>
                  <a:tcPr/>
                </a:tc>
                <a:tc>
                  <a:txBody>
                    <a:bodyPr/>
                    <a:lstStyle/>
                    <a:p>
                      <a:r>
                        <a:rPr sz="950" b="0">
                          <a:solidFill>
                            <a:srgbClr val="202124"/>
                          </a:solidFill>
                        </a:rPr>
                        <a:t>640.1 ms</a:t>
                      </a:r>
                    </a:p>
                  </a:txBody>
                  <a:tcPr/>
                </a:tc>
                <a:tc>
                  <a:txBody>
                    <a:bodyPr/>
                    <a:lstStyle/>
                    <a:p>
                      <a:r>
                        <a:rPr sz="950" b="1">
                          <a:solidFill>
                            <a:srgbClr val="187A33"/>
                          </a:solidFill>
                        </a:rPr>
                        <a:t>8.8 measured</a:t>
                      </a:r>
                    </a:p>
                  </a:txBody>
                  <a:tcPr/>
                </a:tc>
                <a:tc>
                  <a:txBody>
                    <a:bodyPr/>
                    <a:lstStyle/>
                    <a:p>
                      <a:r>
                        <a:rPr sz="950" b="0">
                          <a:solidFill>
                            <a:srgbClr val="202124"/>
                          </a:solidFill>
                        </a:rPr>
                        <a:t>13.7</a:t>
                      </a:r>
                    </a:p>
                  </a:txBody>
                  <a:tcPr/>
                </a:tc>
                <a:tc>
                  <a:txBody>
                    <a:bodyPr/>
                    <a:lstStyle/>
                    <a:p>
                      <a:r>
                        <a:rPr sz="950" b="0">
                          <a:solidFill>
                            <a:srgbClr val="202124"/>
                          </a:solidFill>
                        </a:rPr>
                        <a:t>64%</a:t>
                      </a:r>
                    </a:p>
                  </a:txBody>
                  <a:tcPr/>
                </a:tc>
                <a:tc>
                  <a:txBody>
                    <a:bodyPr/>
                    <a:lstStyle/>
                    <a:p>
                      <a:r>
                        <a:rPr sz="950" b="0">
                          <a:solidFill>
                            <a:srgbClr val="202124"/>
                          </a:solidFill>
                        </a:rPr>
                        <a:t>TWO-THIRDS of the whole chip's bus at six threads</a:t>
                      </a:r>
                    </a:p>
                  </a:txBody>
                  <a:tcPr/>
                </a:tc>
              </a:tr>
              <a:tr h="246888">
                <a:tc>
                  <a:txBody>
                    <a:bodyPr/>
                    <a:lstStyle/>
                    <a:p>
                      <a:r>
                        <a:rPr sz="950" b="1">
                          <a:solidFill>
                            <a:srgbClr val="202124"/>
                          </a:solidFill>
                        </a:rPr>
                        <a:t>Mali-G310 (1 CU)</a:t>
                      </a:r>
                    </a:p>
                  </a:txBody>
                  <a:tcPr/>
                </a:tc>
                <a:tc>
                  <a:txBody>
                    <a:bodyPr/>
                    <a:lstStyle/>
                    <a:p>
                      <a:r>
                        <a:rPr sz="950" b="0">
                          <a:solidFill>
                            <a:srgbClr val="202124"/>
                          </a:solidFill>
                        </a:rPr>
                        <a:t>2,704 ms</a:t>
                      </a:r>
                    </a:p>
                  </a:txBody>
                  <a:tcPr/>
                </a:tc>
                <a:tc>
                  <a:txBody>
                    <a:bodyPr/>
                    <a:lstStyle/>
                    <a:p>
                      <a:r>
                        <a:rPr sz="950" b="1">
                          <a:solidFill>
                            <a:srgbClr val="187A33"/>
                          </a:solidFill>
                        </a:rPr>
                        <a:t>2.1 measured</a:t>
                      </a:r>
                    </a:p>
                  </a:txBody>
                  <a:tcPr/>
                </a:tc>
                <a:tc>
                  <a:txBody>
                    <a:bodyPr/>
                    <a:lstStyle/>
                    <a:p>
                      <a:r>
                        <a:rPr sz="950" b="0">
                          <a:solidFill>
                            <a:srgbClr val="202124"/>
                          </a:solidFill>
                        </a:rPr>
                        <a:t>13.7</a:t>
                      </a:r>
                    </a:p>
                  </a:txBody>
                  <a:tcPr/>
                </a:tc>
                <a:tc>
                  <a:txBody>
                    <a:bodyPr/>
                    <a:lstStyle/>
                    <a:p>
                      <a:r>
                        <a:rPr sz="950" b="0">
                          <a:solidFill>
                            <a:srgbClr val="202124"/>
                          </a:solidFill>
                        </a:rPr>
                        <a:t>15%</a:t>
                      </a:r>
                    </a:p>
                  </a:txBody>
                  <a:tcPr/>
                </a:tc>
                <a:tc>
                  <a:txBody>
                    <a:bodyPr/>
                    <a:lstStyle/>
                    <a:p>
                      <a:r>
                        <a:rPr sz="950" b="0">
                          <a:solidFill>
                            <a:srgbClr val="202124"/>
                          </a:solidFill>
                        </a:rPr>
                        <a:t>GPU + host combined; not bandwidth-bound</a:t>
                      </a:r>
                    </a:p>
                  </a:txBody>
                  <a:tcPr/>
                </a:tc>
              </a:tr>
              <a:tr h="246888">
                <a:tc>
                  <a:txBody>
                    <a:bodyPr/>
                    <a:lstStyle/>
                    <a:p>
                      <a:r>
                        <a:rPr sz="950" b="1">
                          <a:solidFill>
                            <a:srgbClr val="202124"/>
                          </a:solidFill>
                        </a:rPr>
                        <a:t>1x Cortex-A55</a:t>
                      </a:r>
                    </a:p>
                  </a:txBody>
                  <a:tcPr/>
                </a:tc>
                <a:tc>
                  <a:txBody>
                    <a:bodyPr/>
                    <a:lstStyle/>
                    <a:p>
                      <a:r>
                        <a:rPr sz="950" b="0">
                          <a:solidFill>
                            <a:srgbClr val="202124"/>
                          </a:solidFill>
                        </a:rPr>
                        <a:t>2,201 ms</a:t>
                      </a:r>
                    </a:p>
                  </a:txBody>
                  <a:tcPr/>
                </a:tc>
                <a:tc>
                  <a:txBody>
                    <a:bodyPr/>
                    <a:lstStyle/>
                    <a:p>
                      <a:r>
                        <a:rPr sz="950" b="1">
                          <a:solidFill>
                            <a:srgbClr val="187A33"/>
                          </a:solidFill>
                        </a:rPr>
                        <a:t>2.7 measured</a:t>
                      </a:r>
                    </a:p>
                  </a:txBody>
                  <a:tcPr/>
                </a:tc>
                <a:tc>
                  <a:txBody>
                    <a:bodyPr/>
                    <a:lstStyle/>
                    <a:p>
                      <a:r>
                        <a:rPr sz="950" b="0">
                          <a:solidFill>
                            <a:srgbClr val="202124"/>
                          </a:solidFill>
                        </a:rPr>
                        <a:t>13.7</a:t>
                      </a:r>
                    </a:p>
                  </a:txBody>
                  <a:tcPr/>
                </a:tc>
                <a:tc>
                  <a:txBody>
                    <a:bodyPr/>
                    <a:lstStyle/>
                    <a:p>
                      <a:r>
                        <a:rPr sz="950" b="0">
                          <a:solidFill>
                            <a:srgbClr val="202124"/>
                          </a:solidFill>
                        </a:rPr>
                        <a:t>20%</a:t>
                      </a:r>
                    </a:p>
                  </a:txBody>
                  <a:tcPr/>
                </a:tc>
                <a:tc>
                  <a:txBody>
                    <a:bodyPr/>
                    <a:lstStyle/>
                    <a:p>
                      <a:r>
                        <a:rPr sz="950" b="0">
                          <a:solidFill>
                            <a:srgbClr val="202124"/>
                          </a:solidFill>
                        </a:rPr>
                        <a:t>single core, still triple its Config A draw</a:t>
                      </a:r>
                    </a:p>
                  </a:txBody>
                  <a:tcPr/>
                </a:tc>
              </a:tr>
            </a:tbl>
          </a:graphicData>
        </a:graphic>
      </p:graphicFrame>
      <p:sp>
        <p:nvSpPr>
          <p:cNvPr id="5" name="TextBox 4"/>
          <p:cNvSpPr txBox="1"/>
          <p:nvPr/>
        </p:nvSpPr>
        <p:spPr>
          <a:xfrm>
            <a:off x="548640" y="5230368"/>
            <a:ext cx="11155680" cy="731520"/>
          </a:xfrm>
          <a:prstGeom prst="rect">
            <a:avLst/>
          </a:prstGeom>
          <a:noFill/>
        </p:spPr>
        <p:txBody>
          <a:bodyPr wrap="square">
            <a:spAutoFit/>
          </a:bodyPr>
          <a:lstStyle/>
          <a:p>
            <a:pPr algn="l"/>
            <a:r>
              <a:rPr sz="1250" b="1">
                <a:solidFill>
                  <a:srgbClr val="202124"/>
                </a:solidFill>
                <a:latin typeface="Calibri"/>
              </a:rPr>
              <a:t>The headline: at Configuration B the CPU walls MOVE. The six-A55 cluster goes to 64% of the whole chip's bus -- MEASURED at the DDR controller -- and the A720 cluster's derived draw triples. The 8-path uint16 S-plane converts comfortably compute-bound CPUs into bandwidth-pressured ones. (It is also why the A720 cluster absorbed Configuration C's extra pixels at the same wall-clock: it was already pressed against a different limit than arithmetic.)</a:t>
            </a:r>
          </a:p>
        </p:txBody>
      </p:sp>
      <p:sp>
        <p:nvSpPr>
          <p:cNvPr id="6" name="TextBox 5"/>
          <p:cNvSpPr txBox="1"/>
          <p:nvPr/>
        </p:nvSpPr>
        <p:spPr>
          <a:xfrm>
            <a:off x="548640" y="6053328"/>
            <a:ext cx="11155680" cy="411480"/>
          </a:xfrm>
          <a:prstGeom prst="rect">
            <a:avLst/>
          </a:prstGeom>
          <a:noFill/>
        </p:spPr>
        <p:txBody>
          <a:bodyPr wrap="square">
            <a:spAutoFit/>
          </a:bodyPr>
          <a:lstStyle/>
          <a:p>
            <a:pPr algn="l"/>
            <a:r>
              <a:rPr sz="850" b="0">
                <a:solidFill>
                  <a:srgbClr val="5F6368"/>
                </a:solidFill>
                <a:latin typeface="Calibri"/>
              </a:rPr>
              <a:t>GREEN 'measured' = imx9_ddr0 DDR controller (i.MX95), Jetson EMC sampling (net of idle; % of the run's EMC clock), 🔴 The IQ-9075 A78C cell is WITHDRAWN as WINDOW-DEPENDENT: the same workload reads 11.8 / 22.8 / 36.4 GB/s at 5 / mid / 40 timed frames. icc_bwmon fires on THRESHOLD CROSSINGS, so sampling tracks a workload's phase variance -- SGM generates 825 events per run, a steady memcpy only 4 -- and with 825 samples spanning 0.85-37 GB/s across a frame's phases, the scalar depends on what you integrate over. (A first retraction blamed the instrument, using that steady copy as its control: the one workload it cannot see. A collaborator reproduced 22.86/22.18 and calibrated it to 1.8% with a burst probe.) † = DERIVED: the 4.50 GB/frame streaming model (cost build+merge 0.27 + 8-path cost reads 0.79 + S-plane RMW 3.15 + argmin 0.20 GB) / measured frame time -- cache-reuse-free, so a slight under-count: it reproduces the A55x6's measured cell at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r>
              <a:rPr sz="2300" b="1">
                <a:solidFill>
                  <a:srgbClr val="202124"/>
                </a:solidFill>
                <a:latin typeface="Calibri"/>
              </a:rPr>
              <a:t>One cell withdrawn, and a retraction that was itself wrong</a:t>
            </a:r>
          </a:p>
        </p:txBody>
      </p:sp>
      <p:sp>
        <p:nvSpPr>
          <p:cNvPr id="3" name="TextBox 2"/>
          <p:cNvSpPr txBox="1"/>
          <p:nvPr/>
        </p:nvSpPr>
        <p:spPr>
          <a:xfrm>
            <a:off x="548640" y="868680"/>
            <a:ext cx="11155680" cy="457200"/>
          </a:xfrm>
          <a:prstGeom prst="rect">
            <a:avLst/>
          </a:prstGeom>
          <a:noFill/>
        </p:spPr>
        <p:txBody>
          <a:bodyPr wrap="square">
            <a:spAutoFit/>
          </a:bodyPr>
          <a:lstStyle/>
          <a:p>
            <a:pPr algn="l"/>
            <a:r>
              <a:rPr sz="1200" b="0">
                <a:solidFill>
                  <a:srgbClr val="5F6368"/>
                </a:solidFill>
                <a:latin typeface="Calibri"/>
              </a:rPr>
              <a:t>The A78C bandwidth cell on the previous slide is blank. Both the withdrawal and the mistake made while explaining it are on the record, because the second one is the more useful of the two.</a:t>
            </a:r>
          </a:p>
        </p:txBody>
      </p:sp>
      <p:graphicFrame>
        <p:nvGraphicFramePr>
          <p:cNvPr id="4" name="Table 3"/>
          <p:cNvGraphicFramePr>
            <a:graphicFrameLocks noGrp="1"/>
          </p:cNvGraphicFramePr>
          <p:nvPr/>
        </p:nvGraphicFramePr>
        <p:xfrm>
          <a:off x="548640" y="1463040"/>
          <a:ext cx="11064240" cy="365760"/>
        </p:xfrm>
        <a:graphic>
          <a:graphicData uri="http://schemas.openxmlformats.org/drawingml/2006/table">
            <a:tbl>
              <a:tblPr firstRow="1" bandRow="1">
                <a:tableStyleId>{5C22544A-7EE6-4342-B048-85BDC9FD1C3A}</a:tableStyleId>
              </a:tblPr>
              <a:tblGrid>
                <a:gridCol w="3200400"/>
                <a:gridCol w="7863840"/>
              </a:tblGrid>
              <a:tr h="52251">
                <a:tc>
                  <a:txBody>
                    <a:bodyPr/>
                    <a:lstStyle/>
                    <a:p>
                      <a:r>
                        <a:rPr sz="1100" b="1">
                          <a:solidFill>
                            <a:srgbClr val="FFFFFF"/>
                          </a:solidFill>
                        </a:rPr>
                        <a:t>stage</a:t>
                      </a:r>
                    </a:p>
                  </a:txBody>
                  <a:tcPr>
                    <a:solidFill>
                      <a:srgbClr val="202124"/>
                    </a:solidFill>
                  </a:tcPr>
                </a:tc>
                <a:tc>
                  <a:txBody>
                    <a:bodyPr/>
                    <a:lstStyle/>
                    <a:p>
                      <a:r>
                        <a:rPr sz="1100" b="1">
                          <a:solidFill>
                            <a:srgbClr val="FFFFFF"/>
                          </a:solidFill>
                        </a:rPr>
                        <a:t>what happened</a:t>
                      </a:r>
                    </a:p>
                  </a:txBody>
                  <a:tcPr>
                    <a:solidFill>
                      <a:srgbClr val="202124"/>
                    </a:solidFill>
                  </a:tcPr>
                </a:tc>
              </a:tr>
              <a:tr h="52251">
                <a:tc>
                  <a:txBody>
                    <a:bodyPr/>
                    <a:lstStyle/>
                    <a:p>
                      <a:r>
                        <a:rPr sz="1050" b="1">
                          <a:solidFill>
                            <a:srgbClr val="202124"/>
                          </a:solidFill>
                        </a:rPr>
                        <a:t>What was published</a:t>
                      </a:r>
                    </a:p>
                  </a:txBody>
                  <a:tcPr/>
                </a:tc>
                <a:tc>
                  <a:txBody>
                    <a:bodyPr/>
                    <a:lstStyle/>
                    <a:p>
                      <a:r>
                        <a:rPr sz="1050" b="0">
                          <a:solidFill>
                            <a:srgbClr val="202124"/>
                          </a:solidFill>
                        </a:rPr>
                        <a:t>A78C x6 on Configuration B: 22.8 GB/s of a 27.1 ceiling = 84%, 'bandwidth-SATURATED' — and offered as the mechanism behind that board's long-known 'peaks at 6 threads, not 8' behaviour.</a:t>
                      </a:r>
                    </a:p>
                  </a:txBody>
                  <a:tcPr/>
                </a:tc>
              </a:tr>
              <a:tr h="52251">
                <a:tc>
                  <a:txBody>
                    <a:bodyPr/>
                    <a:lstStyle/>
                    <a:p>
                      <a:r>
                        <a:rPr sz="1050" b="1">
                          <a:solidFill>
                            <a:srgbClr val="202124"/>
                          </a:solidFill>
                        </a:rPr>
                        <a:t>Why it came down (this reason STANDS)</a:t>
                      </a:r>
                    </a:p>
                  </a:txBody>
                  <a:tcPr/>
                </a:tc>
                <a:tc>
                  <a:txBody>
                    <a:bodyPr/>
                    <a:lstStyle/>
                    <a:p>
                      <a:r>
                        <a:rPr sz="1050" b="0">
                          <a:solidFill>
                            <a:srgbClr val="202124"/>
                          </a:solidFill>
                        </a:rPr>
                        <a:t>The identical workload reads 11.8 / 22.8 / 36.4 GB/s as the timed-frame count goes 5 -&gt; 40. A scalar that moves 3x with run length is measuring the WINDOW, not the workload.</a:t>
                      </a:r>
                    </a:p>
                  </a:txBody>
                  <a:tcPr/>
                </a:tc>
              </a:tr>
              <a:tr h="52251">
                <a:tc>
                  <a:txBody>
                    <a:bodyPr/>
                    <a:lstStyle/>
                    <a:p>
                      <a:r>
                        <a:rPr sz="1050" b="1">
                          <a:solidFill>
                            <a:srgbClr val="D93025"/>
                          </a:solidFill>
                        </a:rPr>
                        <a:t>🚨 The reason first published was WRONG</a:t>
                      </a:r>
                    </a:p>
                  </a:txBody>
                  <a:tcPr/>
                </a:tc>
                <a:tc>
                  <a:txBody>
                    <a:bodyPr/>
                    <a:lstStyle/>
                    <a:p>
                      <a:r>
                        <a:rPr sz="1050" b="0">
                          <a:solidFill>
                            <a:srgbClr val="202124"/>
                          </a:solidFill>
                        </a:rPr>
                        <a:t>It claimed the instrument 'fails its own control', citing an idle window and a sustained streaming copy that both behaved absurdly. A second party reproduced the cell independently (22.86 / 22.18) and calibrated the same monitor to 1.8% of wall-clock — within a minute of that retraction going out.</a:t>
                      </a:r>
                    </a:p>
                  </a:txBody>
                  <a:tcPr/>
                </a:tc>
              </a:tr>
              <a:tr h="52251">
                <a:tc>
                  <a:txBody>
                    <a:bodyPr/>
                    <a:lstStyle/>
                    <a:p>
                      <a:r>
                        <a:rPr sz="1050" b="1">
                          <a:solidFill>
                            <a:srgbClr val="202124"/>
                          </a:solidFill>
                        </a:rPr>
                        <a:t>What actually reconciles them</a:t>
                      </a:r>
                    </a:p>
                  </a:txBody>
                  <a:tcPr/>
                </a:tc>
                <a:tc>
                  <a:txBody>
                    <a:bodyPr/>
                    <a:lstStyle/>
                    <a:p>
                      <a:r>
                        <a:rPr sz="1050" b="0">
                          <a:solidFill>
                            <a:srgbClr val="202124"/>
                          </a:solidFill>
                        </a:rPr>
                        <a:t>icc_bwmon fires on THRESHOLD CROSSINGS, so its sampling rate tracks the workload's PHASE VARIANCE. Measured: SGM Config B = 825 events per run (census -&gt; cost -&gt; aggregation -&gt; argmin, always changing); 8-second steady memcpy = 4 events. Richly sampled on real workloads, nearly blind on steady ones.</a:t>
                      </a:r>
                    </a:p>
                  </a:txBody>
                  <a:tcPr/>
                </a:tc>
              </a:tr>
              <a:tr h="52251">
                <a:tc>
                  <a:txBody>
                    <a:bodyPr/>
                    <a:lstStyle/>
                    <a:p>
                      <a:r>
                        <a:rPr sz="1050" b="1">
                          <a:solidFill>
                            <a:srgbClr val="202124"/>
                          </a:solidFill>
                        </a:rPr>
                        <a:t>So the control was the mistake</a:t>
                      </a:r>
                    </a:p>
                  </a:txBody>
                  <a:tcPr/>
                </a:tc>
                <a:tc>
                  <a:txBody>
                    <a:bodyPr/>
                    <a:lstStyle/>
                    <a:p>
                      <a:r>
                        <a:rPr sz="1050" b="0">
                          <a:solidFill>
                            <a:srgbClr val="202124"/>
                          </a:solidFill>
                        </a:rPr>
                        <a:t>The steady copy chosen to discredit it is exactly the workload it cannot see: 1.32 GB/s read against a ground-truth 26.59. The collaborator's BURST probe is transition-rich, which is why theirs agreed to 1.8%. Both sides measured honestly; one probe could not work.</a:t>
                      </a:r>
                    </a:p>
                  </a:txBody>
                  <a:tcPr/>
                </a:tc>
              </a:tr>
              <a:tr h="52254">
                <a:tc>
                  <a:txBody>
                    <a:bodyPr/>
                    <a:lstStyle/>
                    <a:p>
                      <a:r>
                        <a:rPr sz="1050" b="1">
                          <a:solidFill>
                            <a:srgbClr val="202124"/>
                          </a:solidFill>
                        </a:rPr>
                        <a:t>What is still open</a:t>
                      </a:r>
                    </a:p>
                  </a:txBody>
                  <a:tcPr/>
                </a:tc>
                <a:tc>
                  <a:txBody>
                    <a:bodyPr/>
                    <a:lstStyle/>
                    <a:p>
                      <a:r>
                        <a:rPr sz="1050" b="0">
                          <a:solidFill>
                            <a:srgbClr val="202124"/>
                          </a:solidFill>
                        </a:rPr>
                        <a:t>Those 825 samples span 0.85 -&gt; 37 GB/s across a frame's phases, so the scalar depends on what you integrate over: a window padded with image load reads ~22.8, an aggregation-dominated one ~36. The cell returns when both sides integrate the TIMED REGION ONLY, at the same n, and land together.</a:t>
                      </a:r>
                    </a:p>
                  </a:txBody>
                  <a:tcPr/>
                </a:tc>
              </a:tr>
            </a:tbl>
          </a:graphicData>
        </a:graphic>
      </p:graphicFrame>
      <p:sp>
        <p:nvSpPr>
          <p:cNvPr id="5" name="TextBox 4"/>
          <p:cNvSpPr txBox="1"/>
          <p:nvPr/>
        </p:nvSpPr>
        <p:spPr>
          <a:xfrm>
            <a:off x="548640" y="5715000"/>
            <a:ext cx="11155680" cy="731520"/>
          </a:xfrm>
          <a:prstGeom prst="rect">
            <a:avLst/>
          </a:prstGeom>
          <a:noFill/>
        </p:spPr>
        <p:txBody>
          <a:bodyPr wrap="square">
            <a:spAutoFit/>
          </a:bodyPr>
          <a:lstStyle/>
          <a:p>
            <a:pPr algn="l"/>
            <a:r>
              <a:rPr sz="1250" b="1">
                <a:solidFill>
                  <a:srgbClr val="202124"/>
                </a:solidFill>
                <a:latin typeface="Calibri"/>
              </a:rPr>
              <a:t>⭐ THE RULE THIS EARNED, and it cost more than the first one: A CONTROL EXPERIMENT IS ITSELF AN INSTRUMENT, AND CAN BE MIS-CHOSEN. Discrediting a counter with a workload it structurally cannot observe produces a confident, well-evidenced, WRONG conclusion — shipped here in a commit message, a README, and a message to the person whose recipe was being declared broken. Retracting carelessly is a way of being wrong that FEELS like rigour.</a:t>
            </a:r>
          </a:p>
        </p:txBody>
      </p:sp>
      <p:sp>
        <p:nvSpPr>
          <p:cNvPr id="6" name="TextBox 5"/>
          <p:cNvSpPr txBox="1"/>
          <p:nvPr/>
        </p:nvSpPr>
        <p:spPr>
          <a:xfrm>
            <a:off x="548640" y="6547104"/>
            <a:ext cx="11155680" cy="274320"/>
          </a:xfrm>
          <a:prstGeom prst="rect">
            <a:avLst/>
          </a:prstGeom>
          <a:noFill/>
        </p:spPr>
        <p:txBody>
          <a:bodyPr wrap="square">
            <a:spAutoFit/>
          </a:bodyPr>
          <a:lstStyle/>
          <a:p>
            <a:pPr algn="l"/>
            <a:r>
              <a:rPr sz="900" b="0">
                <a:solidFill>
                  <a:srgbClr val="5F6368"/>
                </a:solidFill>
                <a:latin typeface="Calibri"/>
              </a:rPr>
              <a:t>Genuinely wrong and permanently removed: 'ceiling cross-confirmed within 5% by icc_bwmon' — that read cpu-bwmon on the CPU-&gt;LLC path, not pmu@9091000 (llcc-bwmon, LLCC-&gt;DDR). Corroboration requires the second instrument measure the same QUANTITY, not merely produce a similar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20 SM, CUDA 13.2,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13.19 ms
        =  132,710,400 disparity estimations / 0.01319 s
        =  10,061 million disparity estimations per second
frame rate  =  1000 / 13.19  =  75.8 fps
pixel rate  =  2.0736 Mpx x 75.8  =  157.21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Rewritten warp-centric: one warp owns a scanline's whole disparity range,</a:t>
            </a:r>
          </a:p>
          <a:p>
            <a:r>
              <a:rPr sz="1300">
                <a:solidFill>
                  <a:srgbClr val="202124"/>
                </a:solidFill>
                <a:latin typeface="Calibri"/>
              </a:rPr>
              <a:t>L in registers, min-reduce by __shfl_xor, ZERO barriers in the recurrence.</a:t>
            </a:r>
          </a:p>
          <a:p>
            <a:r>
              <a:rPr sz="1300">
                <a:solidFill>
                  <a:srgbClr val="202124"/>
                </a:solidFill>
                <a:latin typeface="Calibri"/>
              </a:rPr>
              <a:t>2.69x over the naive OpenCL transliteration (35.39 -&gt; 13.19 ms).</a:t>
            </a:r>
          </a:p>
          <a:p>
            <a:r>
              <a:rPr sz="1300">
                <a:solidFill>
                  <a:srgbClr val="202124"/>
                </a:solidFill>
                <a:latin typeface="Calibri"/>
              </a:rPr>
              <a:t>MEMORY BOUND: aggregate moves 1.46 GB in 10.04 ms = 145 GB/s,</a:t>
            </a:r>
          </a:p>
          <a:p>
            <a:r>
              <a:rPr sz="1300">
                <a:solidFill>
                  <a:srgbClr val="202124"/>
                </a:solidFill>
                <a:latin typeface="Calibri"/>
              </a:rPr>
              <a:t>against a 247 GB/s copy ceiling measured on this same part.</a:t>
            </a:r>
          </a:p>
          <a:p>
            <a:r>
              <a:rPr sz="1300">
                <a:solidFill>
                  <a:srgbClr val="202124"/>
                </a:solidFill>
                <a:latin typeface="Calibri"/>
              </a:rPr>
              <a:t>Peak across the D sweep is 12,138 MDE/s at D=128; D=256 falls back to 9,409.</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Ampere, 16 SM, CUDA 12.6,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23.28 ms
        =  132,710,400 disparity estimations / 0.02328 s
        =  5,701 million disparity estimations per second
frame rate  =  1000 / 23.28  =  43.0 fps
pixel rate  =  2.0736 Mpx x 43.0  =  89.07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Same kernel, same changes: 3.10x over the naive port (72.27 -&gt; 23.28 ms).</a:t>
            </a:r>
          </a:p>
          <a:p>
            <a:r>
              <a:rPr sz="1300">
                <a:solidFill>
                  <a:srgbClr val="202124"/>
                </a:solidFill>
                <a:latin typeface="Calibri"/>
              </a:rPr>
              <a:t>Bit-exact on the first run, before any tuning — the payoff for porting a</a:t>
            </a:r>
          </a:p>
          <a:p>
            <a:r>
              <a:rPr sz="1300">
                <a:solidFill>
                  <a:srgbClr val="202124"/>
                </a:solidFill>
                <a:latin typeface="Calibri"/>
              </a:rPr>
              <a:t>verified OpenCL kernel one-for-one instead of writing a new one.</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170 SM, discrete, 32 GB, driver 580.173  |  D=128: 4.36 ms  ·  D=256: 6.96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3.46 ms
        =  132,710,400 disparity estimations / 0.00346 s
        =  38,356 million disparity estimations per second
frame rate  =  1000 / 3.46  =  289.0 fps
pixel rate  =  2.0736 Mpx x 289.0  =  599.31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The fastest target measured: 38,356 MDE/s at D=64, 289 fps at 1080p.</a:t>
            </a:r>
          </a:p>
          <a:p>
            <a:r>
              <a:rPr sz="1100">
                <a:solidFill>
                  <a:srgbClr val="202124"/>
                </a:solidFill>
                <a:latin typeface="Calibri"/>
              </a:rPr>
              <a:t>60,932 MDE/s at D=128 and 76,248 at D=256 -- unlike Thor, NO reversal at D=256,</a:t>
            </a:r>
          </a:p>
          <a:p>
            <a:r>
              <a:rPr sz="1100">
                <a:solidFill>
                  <a:srgbClr val="202124"/>
                </a:solidFill>
                <a:latin typeface="Calibri"/>
              </a:rPr>
              <a:t>which is what the traffic mechanism predicts on a part with 5.6x the bandwidth.</a:t>
            </a:r>
          </a:p>
          <a:p>
            <a:r>
              <a:rPr sz="1100">
                <a:solidFill>
                  <a:srgbClr val="202124"/>
                </a:solidFill>
                <a:latin typeface="Calibri"/>
              </a:rPr>
              <a:t>587 GB/s achieved of a measured 1,385 GB/s ceiling = 42%: the LOWEST utilisation</a:t>
            </a:r>
          </a:p>
          <a:p>
            <a:r>
              <a:rPr sz="1100">
                <a:solidFill>
                  <a:srgbClr val="202124"/>
                </a:solidFill>
                <a:latin typeface="Calibri"/>
              </a:rPr>
              <a:t>of the three GPUs despite being fastest -- no longer purely bandwidth-bound.</a:t>
            </a:r>
          </a:p>
          <a:p>
            <a:r>
              <a:rPr sz="1100">
                <a:solidFill>
                  <a:srgbClr val="202124"/>
                </a:solidFill>
                <a:latin typeface="Calibri"/>
              </a:rPr>
              <a:t>⚠️ Built as PTX, JIT-compiled by the driver (local CUDA 12.6 cannot target</a:t>
            </a:r>
          </a:p>
          <a:p>
            <a:r>
              <a:rPr sz="1100">
                <a:solidFill>
                  <a:srgbClr val="202124"/>
                </a:solidFill>
                <a:latin typeface="Calibri"/>
              </a:rPr>
              <a:t>sm_120). Golden verified, but not a native build.</a:t>
            </a:r>
          </a:p>
          <a:p>
            <a:r>
              <a:rPr sz="1100">
                <a:solidFill>
                  <a:srgbClr val="202124"/>
                </a:solidFill>
                <a:latin typeface="Calibri"/>
              </a:rPr>
              <a:t>⭐ ITS STEREO HARDWARE IS MEASURED, AND STEREO MODE IS ALREADY GONE:</a:t>
            </a:r>
          </a:p>
          <a:p>
            <a:r>
              <a:rPr sz="1100">
                <a:solidFill>
                  <a:srgbClr val="202124"/>
                </a:solidFill>
                <a:latin typeface="Calibri"/>
              </a:rPr>
              <a:t>NV_OF_MODE_STEREODISPARITY returns UNSUPPORTED_FEATURE at every grid size.</a:t>
            </a:r>
          </a:p>
          <a:p>
            <a:r>
              <a:rPr sz="1100">
                <a:solidFill>
                  <a:srgbClr val="202124"/>
                </a:solidFill>
                <a:latin typeface="Calibri"/>
              </a:rPr>
              <a:t>The fallback (X of general 2D flow): 8.50 ms, 5.3% bad px, vs our CUDA SGM's</a:t>
            </a:r>
          </a:p>
          <a:p>
            <a:r>
              <a:rPr sz="1100">
                <a:solidFill>
                  <a:srgbClr val="202124"/>
                </a:solidFill>
                <a:latin typeface="Calibri"/>
              </a:rPr>
              <a:t>4.13 ms and 2.8% -- software faster AND more accurate, doing less work (1D).</a:t>
            </a:r>
          </a:p>
          <a:p>
            <a:r>
              <a:rPr sz="1100">
                <a:solidFill>
                  <a:srgbClr val="202124"/>
                </a:solidFill>
                <a:latin typeface="Calibri"/>
              </a:rPr>
              <a:t>🚨 13.4% of fallback pixels return non-zero VERTICAL flow (largest 75 px) --</a:t>
            </a:r>
          </a:p>
          <a:p>
            <a:r>
              <a:rPr sz="1100">
                <a:solidFill>
                  <a:srgbClr val="202124"/>
                </a:solidFill>
                <a:latin typeface="Calibri"/>
              </a:rPr>
              <a:t>errors the removed stereo mode was structurally incapable of producing.</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Radxa Orion O6, 2.2-2.5 GHz, NEON  |  single core: 313.60 ms = 423 MDE/s @2.5 GHz</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51.70 ms
        =  132,710,400 disparity estimations / 0.05170 s
        =  2,567 million disparity estimations per second
frame rate  =  1000 / 51.70  =  19.3 fps
pixel rate  =  2.0736 Mpx x 19.3  =  40.11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CPU headline: 10.4x the fastest published Arm-CPU SGM at matched D</a:t>
            </a:r>
          </a:p>
          <a:p>
            <a:r>
              <a:rPr sz="1300">
                <a:solidFill>
                  <a:srgbClr val="202124"/>
                </a:solidFill>
                <a:latin typeface="Calibri"/>
              </a:rPr>
              <a:t>and matched path count (ReS2tAC, Sensors 21(11):3938, 2021 — 242 MDE/s).</a:t>
            </a:r>
          </a:p>
          <a:p>
            <a:r>
              <a:rPr sz="1300">
                <a:solidFill>
                  <a:srgbClr val="202124"/>
                </a:solidFill>
                <a:latin typeface="Calibri"/>
              </a:rPr>
              <a:t>Best single core measured at 423 MDE/s; scales monotonically 1-&gt;8 threads.</a:t>
            </a:r>
          </a:p>
          <a:p>
            <a:r>
              <a:rPr sz="1300">
                <a:solidFill>
                  <a:srgbClr val="202124"/>
                </a:solidFill>
                <a:latin typeface="Calibri"/>
              </a:rPr>
              <a:t>D=64 -&gt; D=128 is FLAT (-2.4%): 16 NEON lanes are already full at D=64.</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NEON  |  single core: 332.22 ms = 400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97.99 ms
        =  132,710,400 disparity estimations / 0.09799 s
        =  1,354 million disparity estimations per second
frame rate  =  1000 / 97.99  =  10.2 fps
pixel rate  =  2.0736 Mpx x 10.2  =  21.16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Ran THIS repository's a55 NEON implementation unmodified, on another</a:t>
            </a:r>
          </a:p>
          <a:p>
            <a:r>
              <a:rPr sz="1300">
                <a:solidFill>
                  <a:srgbClr val="202124"/>
                </a:solidFill>
                <a:latin typeface="Calibri"/>
              </a:rPr>
              <a:t>vendor's silicon, and reproduced the golden at every thread count.</a:t>
            </a:r>
          </a:p>
          <a:p>
            <a:r>
              <a:rPr sz="1300">
                <a:solidFill>
                  <a:srgbClr val="202124"/>
                </a:solidFill>
                <a:latin typeface="Calibri"/>
              </a:rPr>
              <a:t>Per-core 402 MDE/s vs the A720's 423 — a 5% gap between two wide</a:t>
            </a:r>
          </a:p>
          <a:p>
            <a:r>
              <a:rPr sz="1300">
                <a:solidFill>
                  <a:srgbClr val="202124"/>
                </a:solidFill>
                <a:latin typeface="Calibri"/>
              </a:rPr>
              <a:t>out-of-order Arm cores from different vendors on the same algorithm.</a:t>
            </a:r>
          </a:p>
          <a:p>
            <a:r>
              <a:rPr sz="1300">
                <a:solidFill>
                  <a:srgbClr val="202124"/>
                </a:solidFill>
                <a:latin typeface="Calibri"/>
              </a:rPr>
              <a:t>Peaks at SIX threads, not eight; 8 threads is slower on that board.</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HVX, 4 HVX contexts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148.44 ms
        =  132,710,400 disparity estimations / 0.14844 s
        =  894 million disparity estimations per second
frame rate  =  1000 / 148.44  =  6.7 fps
pixel rate  =  2.0736 Mpx x 6.7  =  13.97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MEDIAN of 5 invocations; the board is BIMODAL between invocations (18% at</a:t>
            </a:r>
          </a:p>
          <a:p>
            <a:r>
              <a:rPr sz="1300">
                <a:solidFill>
                  <a:srgbClr val="202124"/>
                </a:solidFill>
                <a:latin typeface="Calibri"/>
              </a:rPr>
              <a:t>720p) so minima are the estimator most sensitive to luck -- quote medians.</a:t>
            </a:r>
          </a:p>
          <a:p>
            <a:r>
              <a:rPr sz="1300">
                <a:solidFill>
                  <a:srgbClr val="202124"/>
                </a:solidFill>
                <a:latin typeface="Calibri"/>
              </a:rPr>
              <a:t>Went 18.7x -&gt; ... -&gt; 1.51x vs the A78C cluster across one day of tuning,</a:t>
            </a:r>
          </a:p>
          <a:p>
            <a:r>
              <a:rPr sz="1300">
                <a:solidFill>
                  <a:srgbClr val="202124"/>
                </a:solidFill>
                <a:latin typeface="Calibri"/>
              </a:rPr>
              <a:t>nothing retracted: always labelled a floor of EFFORT. Beats one A78C core 2.26x.</a:t>
            </a:r>
          </a:p>
          <a:p>
            <a:r>
              <a:rPr sz="1300">
                <a:solidFill>
                  <a:srgbClr val="202124"/>
                </a:solidFill>
                <a:latin typeface="Calibri"/>
              </a:rPr>
              <a:t>Six hardware threads but only FOUR HVX contexts, so 4 threads is optimal.</a:t>
            </a:r>
          </a:p>
          <a:p>
            <a:r>
              <a:rPr sz="1300">
                <a:solidFill>
                  <a:srgbClr val="202124"/>
                </a:solidFill>
                <a:latin typeface="Calibri"/>
              </a:rPr>
              <a:t>Still latency-bound at 6.8 of 28 GB/s — a different wall to Thor's.</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256.00 ms
        =  132,710,400 disparity estimations / 0.25600 s
        =  518 million disparity estimations per second
frame rate  =  1000 / 256.00  =  3.9 fps
pixel rate  =  2.0736 Mpx x 3.9  =  8.10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Loses to TWO A720 cores. But this is an UNBOUNDED FLOOR, not a verdict</a:t>
            </a:r>
          </a:p>
          <a:p>
            <a:r>
              <a:rPr sz="1300">
                <a:solidFill>
                  <a:srgbClr val="202124"/>
                </a:solidFill>
                <a:latin typeface="Calibri"/>
              </a:rPr>
              <a:t>on the hardware: the kernel carries ONE dependency chain per work-item</a:t>
            </a:r>
          </a:p>
          <a:p>
            <a:r>
              <a:rPr sz="1300">
                <a:solidFill>
                  <a:srgbClr val="202124"/>
                </a:solidFill>
                <a:latin typeface="Calibri"/>
              </a:rPr>
              <a:t>with three barrier sites per step and never interleaves chains.</a:t>
            </a:r>
          </a:p>
          <a:p>
            <a:r>
              <a:rPr sz="1300">
                <a:solidFill>
                  <a:srgbClr val="202124"/>
                </a:solidFill>
                <a:latin typeface="Calibri"/>
              </a:rPr>
              <a:t>Nobody has done for this part what was done for the DSP.</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Thor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(Optical Flow Accelerator), VPI 4.1.4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9.35 ms
        =  265,420,800 disparity estimations / 0.00935 s
        =  28,402 million disparity estimations per second
frame rate  =  1000 / 9.35  =  107.0 fps
pixel rate  =  2.0736 Mpx x 107.0  =  221.89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DEDICATED STEREO HARDWARE, and it beats our tuned CUDA on the same chip</a:t>
            </a:r>
          </a:p>
          <a:p>
            <a:r>
              <a:rPr sz="1100">
                <a:solidFill>
                  <a:srgbClr val="202124"/>
                </a:solidFill>
                <a:latin typeface="Calibri"/>
              </a:rPr>
              <a:t>by 2.34x (9.35 ms vs 21.86 ms at 1920x1080 D=128).</a:t>
            </a:r>
          </a:p>
          <a:p>
            <a:r>
              <a:rPr sz="1100">
                <a:solidFill>
                  <a:srgbClr val="202124"/>
                </a:solidFill>
                <a:latin typeface="Calibri"/>
              </a:rPr>
              <a:t>NOT bit-exact to our golden: VPI's SGM is its own implementation (census,</a:t>
            </a:r>
          </a:p>
          <a:p>
            <a:r>
              <a:rPr sz="1100">
                <a:solidFill>
                  <a:srgbClr val="202124"/>
                </a:solidFill>
                <a:latin typeface="Calibri"/>
              </a:rPr>
              <a:t>penalties, confidence). A throughput comparison at matched resolution and D</a:t>
            </a:r>
          </a:p>
          <a:p>
            <a:r>
              <a:rPr sz="1100">
                <a:solidFill>
                  <a:srgbClr val="202124"/>
                </a:solidFill>
                <a:latin typeface="Calibri"/>
              </a:rPr>
              <a:t>-- NOT the same test, and NOT a quality claim.</a:t>
            </a:r>
          </a:p>
          <a:p>
            <a:r>
              <a:rPr sz="1100">
                <a:solidFill>
                  <a:srgbClr val="202124"/>
                </a:solidFill>
                <a:latin typeface="Calibri"/>
              </a:rPr>
              <a:t>🔴 ACCURACY WITHDRAWN: our SGM scores 2.6% bad&gt;1px (MAE 0.45) on ground</a:t>
            </a:r>
          </a:p>
          <a:p>
            <a:r>
              <a:rPr sz="1100">
                <a:solidFill>
                  <a:srgbClr val="202124"/>
                </a:solidFill>
                <a:latin typeface="Calibri"/>
              </a:rPr>
              <a:t>truth; OFA's output aligns under no simple descaling, so its accuracy is</a:t>
            </a:r>
          </a:p>
          <a:p>
            <a:r>
              <a:rPr sz="1100">
                <a:solidFill>
                  <a:srgbClr val="202124"/>
                </a:solidFill>
                <a:latin typeface="Calibri"/>
              </a:rPr>
              <a:t>UNMEASURED and this 2.34x is throughput only.</a:t>
            </a:r>
          </a:p>
          <a:p>
            <a:r>
              <a:rPr sz="1100">
                <a:solidFill>
                  <a:srgbClr val="202124"/>
                </a:solidFill>
                <a:latin typeface="Calibri"/>
              </a:rPr>
              <a:t>VPI defaults to includeDiagonals=1: OFA ran 8 paths against our 4. Measured:</a:t>
            </a:r>
          </a:p>
          <a:p>
            <a:r>
              <a:rPr sz="1100">
                <a:solidFill>
                  <a:srgbClr val="202124"/>
                </a:solidFill>
                <a:latin typeface="Calibri"/>
              </a:rPr>
              <a:t>9.42 ms at 8 paths, 9.85 at 4 -- path-count independent, the timing stands.</a:t>
            </a:r>
          </a:p>
          <a:p>
            <a:r>
              <a:rPr sz="1100">
                <a:solidFill>
                  <a:srgbClr val="202124"/>
                </a:solidFill>
                <a:latin typeface="Calibri"/>
              </a:rPr>
              <a:t>⚠️ downscaleFactor defaults to 2 (960x540 out, 4.14 ms): quoting THAT as a</a:t>
            </a:r>
          </a:p>
          <a:p>
            <a:r>
              <a:rPr sz="1100">
                <a:solidFill>
                  <a:srgbClr val="202124"/>
                </a:solidFill>
                <a:latin typeface="Calibri"/>
              </a:rPr>
              <a:t>1080p figure would overstate it by 2.3x. All numbers here are full-res out.</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Orin AGX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VPI 3.2.4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72.64 ms
        =  265,420,800 disparity estimations / 0.07264 s
        =  3,654 million disparity estimations per second
frame rate  =  1000 / 72.64  =  13.8 fps
pixel rate  =  2.0736 Mpx x 13.8  =  28.55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same fixed-function engine one generation earlier, and here it LOSES:</a:t>
            </a:r>
          </a:p>
          <a:p>
            <a:r>
              <a:rPr sz="1300">
                <a:solidFill>
                  <a:srgbClr val="202124"/>
                </a:solidFill>
                <a:latin typeface="Calibri"/>
              </a:rPr>
              <a:t>our CUDA kernel does the same work in 33.16 ms against the hardware's 72.64.</a:t>
            </a:r>
          </a:p>
          <a:p>
            <a:r>
              <a:rPr sz="1300">
                <a:solidFill>
                  <a:srgbClr val="202124"/>
                </a:solidFill>
                <a:latin typeface="Calibri"/>
              </a:rPr>
              <a:t>Software wins by 2.19x on the silicon built for this exact job.</a:t>
            </a:r>
          </a:p>
          <a:p>
            <a:r>
              <a:rPr sz="1300">
                <a:solidFill>
                  <a:srgbClr val="202124"/>
                </a:solidFill>
                <a:latin typeface="Calibri"/>
              </a:rPr>
              <a:t>Thor's OFA is 7.8x faster than Orin's at identical settings -- a far larger</a:t>
            </a:r>
          </a:p>
          <a:p>
            <a:r>
              <a:rPr sz="1300">
                <a:solidFill>
                  <a:srgbClr val="202124"/>
                </a:solidFill>
                <a:latin typeface="Calibri"/>
              </a:rPr>
              <a:t>generational jump than the 1.5x between the two GPUs.</a:t>
            </a:r>
          </a:p>
          <a:p>
            <a:r>
              <a:rPr sz="1300">
                <a:solidFill>
                  <a:srgbClr val="202124"/>
                </a:solidFill>
                <a:latin typeface="Calibri"/>
              </a:rPr>
              <a:t>Taken together these two rows are the interesting result: whether dedicated</a:t>
            </a:r>
          </a:p>
          <a:p>
            <a:r>
              <a:rPr sz="1300">
                <a:solidFill>
                  <a:srgbClr val="202124"/>
                </a:solidFill>
                <a:latin typeface="Calibri"/>
              </a:rPr>
              <a:t>hardware beats a tuned kernel is a property of the generation, not of the</a:t>
            </a:r>
          </a:p>
          <a:p>
            <a:r>
              <a:rPr sz="1300">
                <a:solidFill>
                  <a:srgbClr val="202124"/>
                </a:solidFill>
                <a:latin typeface="Calibri"/>
              </a:rPr>
              <a:t>idea of dedicated hardware.</a:t>
            </a:r>
          </a:p>
          <a:p>
            <a:r>
              <a:rPr sz="1300">
                <a:solidFill>
                  <a:srgbClr val="202124"/>
                </a:solidFill>
                <a:latin typeface="Calibri"/>
              </a:rPr>
              <a:t>Same caveats as the Thor row: not bit-exact, accuracy unmeasured, and the</a:t>
            </a:r>
          </a:p>
          <a:p>
            <a:r>
              <a:rPr sz="1300">
                <a:solidFill>
                  <a:srgbClr val="202124"/>
                </a:solidFill>
                <a:latin typeface="Calibri"/>
              </a:rPr>
              <a:t>timed region excludes format conversion where ours is end-to-end (&lt;5%).</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i.MX 95 FRDM, 1.8 GHz, NEON  |  single core: 1,588.74 ms = 84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341.30 ms
        =  132,710,400 disparity estimations / 0.34130 s
        =  389 million disparity estimations per second
frame rate  =  1000 / 341.30  =  2.9 fps
pixel rate  =  2.0736 Mpx x 2.9  =  6.08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reference platform this project is anchored to, and the slowest CPU here.</a:t>
            </a:r>
          </a:p>
          <a:p>
            <a:r>
              <a:rPr sz="1300">
                <a:solidFill>
                  <a:srgbClr val="202124"/>
                </a:solidFill>
                <a:latin typeface="Calibri"/>
              </a:rPr>
              <a:t>Scales 4.65x from 1 to 6 cores (1,588.74 -&gt; 341.30 ms) -- that spread is also</a:t>
            </a:r>
          </a:p>
          <a:p>
            <a:r>
              <a:rPr sz="1300">
                <a:solidFill>
                  <a:srgbClr val="202124"/>
                </a:solidFill>
                <a:latin typeface="Calibri"/>
              </a:rPr>
              <a:t>the proof that the -t thread flag was working on these runs, since the inert</a:t>
            </a:r>
          </a:p>
          <a:p>
            <a:r>
              <a:rPr sz="1300">
                <a:solidFill>
                  <a:srgbClr val="202124"/>
                </a:solidFill>
                <a:latin typeface="Calibri"/>
              </a:rPr>
              <a:t>flag it was found to have would have collapsed every count to one timing.</a:t>
            </a:r>
          </a:p>
          <a:p>
            <a:r>
              <a:rPr sz="1300">
                <a:solidFill>
                  <a:srgbClr val="202124"/>
                </a:solidFill>
                <a:latin typeface="Calibri"/>
              </a:rPr>
              <a:t>Per core 84 MDE/s against the A720's 423: a 5.0x gap between an in-order</a:t>
            </a:r>
          </a:p>
          <a:p>
            <a:r>
              <a:rPr sz="1300">
                <a:solidFill>
                  <a:srgbClr val="202124"/>
                </a:solidFill>
                <a:latin typeface="Calibri"/>
              </a:rPr>
              <a:t>little core at 1.8 GHz and a wide out-of-order core at 2.5 GHz.</a:t>
            </a:r>
          </a:p>
          <a:p>
            <a:r>
              <a:rPr sz="1300">
                <a:solidFill>
                  <a:srgbClr val="202124"/>
                </a:solidFill>
                <a:latin typeface="Calibri"/>
              </a:rPr>
              <a:t>Block-width optimum is 192 here and 256 on the A720 -- not the same number.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1,846.00 ms
        =  132,710,400 disparity estimations / 1.84600 s
        =  72 million disparity estimations per second
frame rate  =  1000 / 1,846.00  =  0.5 fps
pixel rate  =  2.0736 Mpx x 0.5  =  1.12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entry-tier part, same kernel, same hash. Its 'no compute driver'</a:t>
            </a:r>
          </a:p>
          <a:p>
            <a:r>
              <a:rPr sz="1300">
                <a:solidFill>
                  <a:srgbClr val="202124"/>
                </a:solidFill>
                <a:latin typeface="Calibri"/>
              </a:rPr>
              <a:t>reputation is wrong — it ships working OpenCL 3.0 and merely lacks clinfo.</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1x Cortex-A55, -O2, no SIMD,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9,188.00 ms
        =  132,710,400 disparity estimations / 9.18800 s
        =  14 million disparity estimations per second
frame rate  =  1000 / 9,188.00  =  0.1 fps
pixel rate  =  2.0736 Mpx x 0.1  =  0.23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Deliberately boring: the oracle every other bar is checked against.</a:t>
            </a:r>
          </a:p>
          <a:p>
            <a:r>
              <a:rPr sz="1300">
                <a:solidFill>
                  <a:srgbClr val="202124"/>
                </a:solidFill>
                <a:latin typeface="Calibri"/>
              </a:rPr>
              <a:t>It defines the golden hash, so it cannot be wrong by construction —</a:t>
            </a:r>
          </a:p>
          <a:p>
            <a:r>
              <a:rPr sz="1300">
                <a:solidFill>
                  <a:srgbClr val="202124"/>
                </a:solidFill>
                <a:latin typeface="Calibri"/>
              </a:rPr>
              <a:t>it can only be slow, and it is 699x slower than the fastest bar.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On real stereo imagery</a:t>
            </a:r>
          </a:p>
        </p:txBody>
      </p:sp>
      <p:sp>
        <p:nvSpPr>
          <p:cNvPr id="3" name="TextBox 2"/>
          <p:cNvSpPr txBox="1"/>
          <p:nvPr/>
        </p:nvSpPr>
        <p:spPr>
          <a:xfrm>
            <a:off x="548640" y="914400"/>
            <a:ext cx="10972800" cy="365760"/>
          </a:xfrm>
          <a:prstGeom prst="rect">
            <a:avLst/>
          </a:prstGeom>
          <a:noFill/>
        </p:spPr>
        <p:txBody>
          <a:bodyPr wrap="square">
            <a:spAutoFit/>
          </a:bodyPr>
          <a:lstStyle/>
          <a:p>
            <a:pPr algn="l"/>
            <a:r>
              <a:rPr sz="1300" b="0">
                <a:solidFill>
                  <a:srgbClr val="5F6368"/>
                </a:solidFill>
                <a:latin typeface="Calibri"/>
              </a:rPr>
              <a:t>Middlebury 2014 'Motorcycle' — a real calibrated two-camera capture, dense structured-light ground truth — 1482x1000, D=128</a:t>
            </a:r>
          </a:p>
        </p:txBody>
      </p:sp>
      <p:pic>
        <p:nvPicPr>
          <p:cNvPr id="4" name="Picture 3" descr="motorcycle_real.png"/>
          <p:cNvPicPr>
            <a:picLocks noChangeAspect="1"/>
          </p:cNvPicPr>
          <p:nvPr/>
        </p:nvPicPr>
        <p:blipFill>
          <a:blip r:embed="rId2"/>
          <a:stretch>
            <a:fillRect/>
          </a:stretch>
        </p:blipFill>
        <p:spPr>
          <a:xfrm>
            <a:off x="548640" y="1371600"/>
            <a:ext cx="11064240" cy="3288028"/>
          </a:xfrm>
          <a:prstGeom prst="rect">
            <a:avLst/>
          </a:prstGeom>
        </p:spPr>
      </p:pic>
      <p:sp>
        <p:nvSpPr>
          <p:cNvPr id="5" name="TextBox 4"/>
          <p:cNvSpPr txBox="1"/>
          <p:nvPr/>
        </p:nvSpPr>
        <p:spPr>
          <a:xfrm>
            <a:off x="548640" y="5989320"/>
            <a:ext cx="11155680" cy="822960"/>
          </a:xfrm>
          <a:prstGeom prst="rect">
            <a:avLst/>
          </a:prstGeom>
          <a:noFill/>
        </p:spPr>
        <p:txBody>
          <a:bodyPr wrap="square">
            <a:spAutoFit/>
          </a:bodyPr>
          <a:lstStyle/>
          <a:p>
            <a:pPr algn="l"/>
            <a:r>
              <a:rPr sz="1200" b="0">
                <a:solidFill>
                  <a:srgbClr val="202124"/>
                </a:solidFill>
                <a:latin typeface="Calibri"/>
              </a:rPr>
              <a:t>All eight targets produce the identical golden e8a95242882013f0 — the picture is the same, only the time differs (NSP: 179.23 ms, ~1,058 MDE/s). Accuracy vs dense ground truth: bad&gt;1px 16.2%, bad&gt;2px 11.2%, MAE 3.35 — independently reproduced to 0.05 points on hardware we have never touched.</a:t>
            </a:r>
          </a:p>
        </p:txBody>
      </p:sp>
      <p:sp>
        <p:nvSpPr>
          <p:cNvPr id="6" name="TextBox 5"/>
          <p:cNvSpPr txBox="1"/>
          <p:nvPr/>
        </p:nvSpPr>
        <p:spPr>
          <a:xfrm>
            <a:off x="548640" y="6510528"/>
            <a:ext cx="11155680" cy="365760"/>
          </a:xfrm>
          <a:prstGeom prst="rect">
            <a:avLst/>
          </a:prstGeom>
          <a:noFill/>
        </p:spPr>
        <p:txBody>
          <a:bodyPr wrap="square">
            <a:spAutoFit/>
          </a:bodyPr>
          <a:lstStyle/>
          <a:p>
            <a:pPr algn="l"/>
            <a:r>
              <a:rPr sz="1100" b="0">
                <a:solidFill>
                  <a:srgbClr val="5F6368"/>
                </a:solidFill>
                <a:latin typeface="Calibri"/>
              </a:rPr>
              <a:t>Real imagery is a better ACCEPTANCE test, not just a more realistic one: 14,417 pixels have a tied minimum here against 20 on the synthetic scene, so the hash-critical tie-break rule is pinned 720x harder.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B across the same roster</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300" b="0">
                <a:solidFill>
                  <a:srgbClr val="5F6368"/>
                </a:solidFill>
                <a:latin typeface="Calibri"/>
              </a:rPr>
              <a:t>1920x800 in, 960x400 out  ·  two full 64-D scales, costs averaged  ·  8 paths, weighted P1  ·  census 9x7 on SobelX  ·  P2=200 saturating  ·  every row bit-exact to golden bcb9cb0bd6f49799</a:t>
            </a:r>
          </a:p>
        </p:txBody>
      </p:sp>
      <p:graphicFrame>
        <p:nvGraphicFramePr>
          <p:cNvPr id="4" name="Table 3"/>
          <p:cNvGraphicFramePr>
            <a:graphicFrameLocks noGrp="1"/>
          </p:cNvGraphicFramePr>
          <p:nvPr/>
        </p:nvGraphicFramePr>
        <p:xfrm>
          <a:off x="548640" y="1572768"/>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1100" b="1">
                          <a:solidFill>
                            <a:srgbClr val="202124"/>
                          </a:solidFill>
                        </a:rPr>
                        <a:t>NVIDIA OFA on Thor (ds=2)</a:t>
                      </a:r>
                    </a:p>
                  </a:txBody>
                  <a:tcPr/>
                </a:tc>
                <a:tc>
                  <a:txBody>
                    <a:bodyPr/>
                    <a:lstStyle/>
                    <a:p>
                      <a:r>
                        <a:rPr sz="1100" b="1">
                          <a:solidFill>
                            <a:srgbClr val="7B4FD1"/>
                          </a:solidFill>
                        </a:rPr>
                        <a:t>HW</a:t>
                      </a:r>
                    </a:p>
                  </a:txBody>
                  <a:tcPr/>
                </a:tc>
                <a:tc>
                  <a:txBody>
                    <a:bodyPr/>
                    <a:lstStyle/>
                    <a:p>
                      <a:r>
                        <a:rPr sz="1100" b="0">
                          <a:solidFill>
                            <a:srgbClr val="202124"/>
                          </a:solidFill>
                        </a:rPr>
                        <a:t>3.38 ms</a:t>
                      </a:r>
                    </a:p>
                  </a:txBody>
                  <a:tcPr/>
                </a:tc>
                <a:tc>
                  <a:txBody>
                    <a:bodyPr/>
                    <a:lstStyle/>
                    <a:p>
                      <a:r>
                        <a:rPr sz="1100" b="0">
                          <a:solidFill>
                            <a:srgbClr val="202124"/>
                          </a:solidFill>
                        </a:rPr>
                        <a:t>296</a:t>
                      </a:r>
                    </a:p>
                  </a:txBody>
                  <a:tcPr/>
                </a:tc>
                <a:tc>
                  <a:txBody>
                    <a:bodyPr/>
                    <a:lstStyle/>
                    <a:p>
                      <a:r>
                        <a:rPr sz="1100" b="1">
                          <a:solidFill>
                            <a:srgbClr val="202124"/>
                          </a:solidFill>
                        </a:rPr>
                        <a:t>—</a:t>
                      </a:r>
                    </a:p>
                  </a:txBody>
                  <a:tcPr/>
                </a:tc>
                <a:tc>
                  <a:txBody>
                    <a:bodyPr/>
                    <a:lstStyle/>
                    <a:p>
                      <a:r>
                        <a:rPr sz="1100" b="1">
                          <a:solidFill>
                            <a:srgbClr val="187A33"/>
                          </a:solidFill>
                        </a:rPr>
                        <a:t>≈0 / 249</a:t>
                      </a:r>
                    </a:p>
                  </a:txBody>
                  <a:tcPr/>
                </a:tc>
                <a:tc>
                  <a:txBody>
                    <a:bodyPr/>
                    <a:lstStyle/>
                    <a:p>
                      <a:r>
                        <a:rPr sz="1100" b="0">
                          <a:solidFill>
                            <a:srgbClr val="202124"/>
                          </a:solidFill>
                        </a:rPr>
                        <a:t>4,220x (time only)</a:t>
                      </a:r>
                    </a:p>
                  </a:txBody>
                  <a:tcPr/>
                </a:tc>
              </a:tr>
              <a:tr h="228600">
                <a:tc>
                  <a:txBody>
                    <a:bodyPr/>
                    <a:lstStyle/>
                    <a:p>
                      <a:r>
                        <a:rPr sz="1100" b="1">
                          <a:solidFill>
                            <a:srgbClr val="202124"/>
                          </a:solidFill>
                        </a:rPr>
                        <a:t>NVIDIA RTX 5090</a:t>
                      </a:r>
                    </a:p>
                  </a:txBody>
                  <a:tcPr/>
                </a:tc>
                <a:tc>
                  <a:txBody>
                    <a:bodyPr/>
                    <a:lstStyle/>
                    <a:p>
                      <a:r>
                        <a:rPr sz="1100" b="1">
                          <a:solidFill>
                            <a:srgbClr val="4C8BF5"/>
                          </a:solidFill>
                        </a:rPr>
                        <a:t>GPU</a:t>
                      </a:r>
                    </a:p>
                  </a:txBody>
                  <a:tcPr/>
                </a:tc>
                <a:tc>
                  <a:txBody>
                    <a:bodyPr/>
                    <a:lstStyle/>
                    <a:p>
                      <a:r>
                        <a:rPr sz="1100" b="0">
                          <a:solidFill>
                            <a:srgbClr val="202124"/>
                          </a:solidFill>
                        </a:rPr>
                        <a:t>9.08 ms</a:t>
                      </a:r>
                    </a:p>
                  </a:txBody>
                  <a:tcPr/>
                </a:tc>
                <a:tc>
                  <a:txBody>
                    <a:bodyPr/>
                    <a:lstStyle/>
                    <a:p>
                      <a:r>
                        <a:rPr sz="1100" b="0">
                          <a:solidFill>
                            <a:srgbClr val="202124"/>
                          </a:solidFill>
                        </a:rPr>
                        <a:t>110.1</a:t>
                      </a:r>
                    </a:p>
                  </a:txBody>
                  <a:tcPr/>
                </a:tc>
                <a:tc>
                  <a:txBody>
                    <a:bodyPr/>
                    <a:lstStyle/>
                    <a:p>
                      <a:r>
                        <a:rPr sz="1100" b="1">
                          <a:solidFill>
                            <a:srgbClr val="202124"/>
                          </a:solidFill>
                        </a:rPr>
                        <a:t>13,538</a:t>
                      </a:r>
                    </a:p>
                  </a:txBody>
                  <a:tcPr/>
                </a:tc>
                <a:tc>
                  <a:txBody>
                    <a:bodyPr/>
                    <a:lstStyle/>
                    <a:p>
                      <a:r>
                        <a:rPr sz="1100" b="0">
                          <a:solidFill>
                            <a:srgbClr val="202124"/>
                          </a:solidFill>
                        </a:rPr>
                        <a:t>495 † / 1,385</a:t>
                      </a:r>
                    </a:p>
                  </a:txBody>
                  <a:tcPr/>
                </a:tc>
                <a:tc>
                  <a:txBody>
                    <a:bodyPr/>
                    <a:lstStyle/>
                    <a:p>
                      <a:r>
                        <a:rPr sz="1100" b="0">
                          <a:solidFill>
                            <a:srgbClr val="202124"/>
                          </a:solidFill>
                        </a:rPr>
                        <a:t>1,571x faster</a:t>
                      </a:r>
                    </a:p>
                  </a:txBody>
                  <a:tcPr/>
                </a:tc>
              </a:tr>
              <a:tr h="228600">
                <a:tc>
                  <a:txBody>
                    <a:bodyPr/>
                    <a:lstStyle/>
                    <a:p>
                      <a:r>
                        <a:rPr sz="1100" b="1">
                          <a:solidFill>
                            <a:srgbClr val="202124"/>
                          </a:solidFill>
                        </a:rPr>
                        <a:t>NVIDIA OFA on Orin (ds=2)</a:t>
                      </a:r>
                    </a:p>
                  </a:txBody>
                  <a:tcPr/>
                </a:tc>
                <a:tc>
                  <a:txBody>
                    <a:bodyPr/>
                    <a:lstStyle/>
                    <a:p>
                      <a:r>
                        <a:rPr sz="1100" b="1">
                          <a:solidFill>
                            <a:srgbClr val="7B4FD1"/>
                          </a:solidFill>
                        </a:rPr>
                        <a:t>HW</a:t>
                      </a:r>
                    </a:p>
                  </a:txBody>
                  <a:tcPr/>
                </a:tc>
                <a:tc>
                  <a:txBody>
                    <a:bodyPr/>
                    <a:lstStyle/>
                    <a:p>
                      <a:r>
                        <a:rPr sz="1100" b="0">
                          <a:solidFill>
                            <a:srgbClr val="202124"/>
                          </a:solidFill>
                        </a:rPr>
                        <a:t>14.90 ms</a:t>
                      </a:r>
                    </a:p>
                  </a:txBody>
                  <a:tcPr/>
                </a:tc>
                <a:tc>
                  <a:txBody>
                    <a:bodyPr/>
                    <a:lstStyle/>
                    <a:p>
                      <a:r>
                        <a:rPr sz="1100" b="0">
                          <a:solidFill>
                            <a:srgbClr val="202124"/>
                          </a:solidFill>
                        </a:rPr>
                        <a:t>67</a:t>
                      </a:r>
                    </a:p>
                  </a:txBody>
                  <a:tcPr/>
                </a:tc>
                <a:tc>
                  <a:txBody>
                    <a:bodyPr/>
                    <a:lstStyle/>
                    <a:p>
                      <a:r>
                        <a:rPr sz="1100" b="1">
                          <a:solidFill>
                            <a:srgbClr val="202124"/>
                          </a:solidFill>
                        </a:rPr>
                        <a:t>—</a:t>
                      </a:r>
                    </a:p>
                  </a:txBody>
                  <a:tcPr/>
                </a:tc>
                <a:tc>
                  <a:txBody>
                    <a:bodyPr/>
                    <a:lstStyle/>
                    <a:p>
                      <a:r>
                        <a:rPr sz="1100" b="1">
                          <a:solidFill>
                            <a:srgbClr val="187A33"/>
                          </a:solidFill>
                        </a:rPr>
                        <a:t>0.7 / 175</a:t>
                      </a:r>
                    </a:p>
                  </a:txBody>
                  <a:tcPr/>
                </a:tc>
                <a:tc>
                  <a:txBody>
                    <a:bodyPr/>
                    <a:lstStyle/>
                    <a:p>
                      <a:r>
                        <a:rPr sz="1100" b="0">
                          <a:solidFill>
                            <a:srgbClr val="202124"/>
                          </a:solidFill>
                        </a:rPr>
                        <a:t>957x (time only)</a:t>
                      </a:r>
                    </a:p>
                  </a:txBody>
                  <a:tcPr/>
                </a:tc>
              </a:tr>
              <a:tr h="228600">
                <a:tc>
                  <a:txBody>
                    <a:bodyPr/>
                    <a:lstStyle/>
                    <a:p>
                      <a:r>
                        <a:rPr sz="1100" b="1">
                          <a:solidFill>
                            <a:srgbClr val="202124"/>
                          </a:solidFill>
                        </a:rPr>
                        <a:t>NVIDIA Thor</a:t>
                      </a:r>
                    </a:p>
                  </a:txBody>
                  <a:tcPr/>
                </a:tc>
                <a:tc>
                  <a:txBody>
                    <a:bodyPr/>
                    <a:lstStyle/>
                    <a:p>
                      <a:r>
                        <a:rPr sz="1100" b="1">
                          <a:solidFill>
                            <a:srgbClr val="4C8BF5"/>
                          </a:solidFill>
                        </a:rPr>
                        <a:t>GPU</a:t>
                      </a:r>
                    </a:p>
                  </a:txBody>
                  <a:tcPr/>
                </a:tc>
                <a:tc>
                  <a:txBody>
                    <a:bodyPr/>
                    <a:lstStyle/>
                    <a:p>
                      <a:r>
                        <a:rPr sz="1100" b="0">
                          <a:solidFill>
                            <a:srgbClr val="202124"/>
                          </a:solidFill>
                        </a:rPr>
                        <a:t>45.10 ms</a:t>
                      </a:r>
                    </a:p>
                  </a:txBody>
                  <a:tcPr/>
                </a:tc>
                <a:tc>
                  <a:txBody>
                    <a:bodyPr/>
                    <a:lstStyle/>
                    <a:p>
                      <a:r>
                        <a:rPr sz="1100" b="0">
                          <a:solidFill>
                            <a:srgbClr val="202124"/>
                          </a:solidFill>
                        </a:rPr>
                        <a:t>22.2</a:t>
                      </a:r>
                    </a:p>
                  </a:txBody>
                  <a:tcPr/>
                </a:tc>
                <a:tc>
                  <a:txBody>
                    <a:bodyPr/>
                    <a:lstStyle/>
                    <a:p>
                      <a:r>
                        <a:rPr sz="1100" b="1">
                          <a:solidFill>
                            <a:srgbClr val="202124"/>
                          </a:solidFill>
                        </a:rPr>
                        <a:t>2,723</a:t>
                      </a:r>
                    </a:p>
                  </a:txBody>
                  <a:tcPr/>
                </a:tc>
                <a:tc>
                  <a:txBody>
                    <a:bodyPr/>
                    <a:lstStyle/>
                    <a:p>
                      <a:r>
                        <a:rPr sz="1100" b="0">
                          <a:solidFill>
                            <a:srgbClr val="202124"/>
                          </a:solidFill>
                        </a:rPr>
                        <a:t>100 † / 249</a:t>
                      </a:r>
                    </a:p>
                  </a:txBody>
                  <a:tcPr/>
                </a:tc>
                <a:tc>
                  <a:txBody>
                    <a:bodyPr/>
                    <a:lstStyle/>
                    <a:p>
                      <a:r>
                        <a:rPr sz="1100" b="0">
                          <a:solidFill>
                            <a:srgbClr val="202124"/>
                          </a:solidFill>
                        </a:rPr>
                        <a:t>316x faster</a:t>
                      </a:r>
                    </a:p>
                  </a:txBody>
                  <a:tcPr/>
                </a:tc>
              </a:tr>
              <a:tr h="228600">
                <a:tc>
                  <a:txBody>
                    <a:bodyPr/>
                    <a:lstStyle/>
                    <a:p>
                      <a:r>
                        <a:rPr sz="1100" b="1">
                          <a:solidFill>
                            <a:srgbClr val="202124"/>
                          </a:solidFill>
                        </a:rPr>
                        <a:t>NVIDIA Orin AGX</a:t>
                      </a:r>
                    </a:p>
                  </a:txBody>
                  <a:tcPr/>
                </a:tc>
                <a:tc>
                  <a:txBody>
                    <a:bodyPr/>
                    <a:lstStyle/>
                    <a:p>
                      <a:r>
                        <a:rPr sz="1100" b="1">
                          <a:solidFill>
                            <a:srgbClr val="4C8BF5"/>
                          </a:solidFill>
                        </a:rPr>
                        <a:t>GPU</a:t>
                      </a:r>
                    </a:p>
                  </a:txBody>
                  <a:tcPr/>
                </a:tc>
                <a:tc>
                  <a:txBody>
                    <a:bodyPr/>
                    <a:lstStyle/>
                    <a:p>
                      <a:r>
                        <a:rPr sz="1100" b="0">
                          <a:solidFill>
                            <a:srgbClr val="202124"/>
                          </a:solidFill>
                        </a:rPr>
                        <a:t>72.80 ms</a:t>
                      </a:r>
                    </a:p>
                  </a:txBody>
                  <a:tcPr/>
                </a:tc>
                <a:tc>
                  <a:txBody>
                    <a:bodyPr/>
                    <a:lstStyle/>
                    <a:p>
                      <a:r>
                        <a:rPr sz="1100" b="0">
                          <a:solidFill>
                            <a:srgbClr val="202124"/>
                          </a:solidFill>
                        </a:rPr>
                        <a:t>13.7</a:t>
                      </a:r>
                    </a:p>
                  </a:txBody>
                  <a:tcPr/>
                </a:tc>
                <a:tc>
                  <a:txBody>
                    <a:bodyPr/>
                    <a:lstStyle/>
                    <a:p>
                      <a:r>
                        <a:rPr sz="1100" b="1">
                          <a:solidFill>
                            <a:srgbClr val="202124"/>
                          </a:solidFill>
                        </a:rPr>
                        <a:t>1,688</a:t>
                      </a:r>
                    </a:p>
                  </a:txBody>
                  <a:tcPr/>
                </a:tc>
                <a:tc>
                  <a:txBody>
                    <a:bodyPr/>
                    <a:lstStyle/>
                    <a:p>
                      <a:r>
                        <a:rPr sz="1100" b="0">
                          <a:solidFill>
                            <a:srgbClr val="202124"/>
                          </a:solidFill>
                        </a:rPr>
                        <a:t>62 † / 175</a:t>
                      </a:r>
                    </a:p>
                  </a:txBody>
                  <a:tcPr/>
                </a:tc>
                <a:tc>
                  <a:txBody>
                    <a:bodyPr/>
                    <a:lstStyle/>
                    <a:p>
                      <a:r>
                        <a:rPr sz="1100" b="0">
                          <a:solidFill>
                            <a:srgbClr val="202124"/>
                          </a:solidFill>
                        </a:rPr>
                        <a:t>196x faster</a:t>
                      </a:r>
                    </a:p>
                  </a:txBody>
                  <a:tcPr/>
                </a:tc>
              </a:tr>
              <a:tr h="228600">
                <a:tc>
                  <a:txBody>
                    <a:bodyPr/>
                    <a:lstStyle/>
                    <a:p>
                      <a:r>
                        <a:rPr sz="1100" b="1">
                          <a:solidFill>
                            <a:srgbClr val="202124"/>
                          </a:solidFill>
                        </a:rPr>
                        <a:t>Cortex-A78C x8 (6 threads)</a:t>
                      </a:r>
                    </a:p>
                  </a:txBody>
                  <a:tcPr/>
                </a:tc>
                <a:tc>
                  <a:txBody>
                    <a:bodyPr/>
                    <a:lstStyle/>
                    <a:p>
                      <a:r>
                        <a:rPr sz="1100" b="1">
                          <a:solidFill>
                            <a:srgbClr val="E8710A"/>
                          </a:solidFill>
                        </a:rPr>
                        <a:t>CPU</a:t>
                      </a:r>
                    </a:p>
                  </a:txBody>
                  <a:tcPr/>
                </a:tc>
                <a:tc>
                  <a:txBody>
                    <a:bodyPr/>
                    <a:lstStyle/>
                    <a:p>
                      <a:r>
                        <a:rPr sz="1100" b="0">
                          <a:solidFill>
                            <a:srgbClr val="202124"/>
                          </a:solidFill>
                        </a:rPr>
                        <a:t>211.90 ms</a:t>
                      </a:r>
                    </a:p>
                  </a:txBody>
                  <a:tcPr/>
                </a:tc>
                <a:tc>
                  <a:txBody>
                    <a:bodyPr/>
                    <a:lstStyle/>
                    <a:p>
                      <a:r>
                        <a:rPr sz="1100" b="0">
                          <a:solidFill>
                            <a:srgbClr val="202124"/>
                          </a:solidFill>
                        </a:rPr>
                        <a:t>4.72</a:t>
                      </a:r>
                    </a:p>
                  </a:txBody>
                  <a:tcPr/>
                </a:tc>
                <a:tc>
                  <a:txBody>
                    <a:bodyPr/>
                    <a:lstStyle/>
                    <a:p>
                      <a:r>
                        <a:rPr sz="1100" b="1">
                          <a:solidFill>
                            <a:srgbClr val="202124"/>
                          </a:solidFill>
                        </a:rPr>
                        <a:t>580</a:t>
                      </a:r>
                    </a:p>
                  </a:txBody>
                  <a:tcPr/>
                </a:tc>
                <a:tc>
                  <a:txBody>
                    <a:bodyPr/>
                    <a:lstStyle/>
                    <a:p>
                      <a:r>
                        <a:rPr sz="1100" b="0">
                          <a:solidFill>
                            <a:srgbClr val="D93025"/>
                          </a:solidFill>
                        </a:rPr>
                        <a:t>withdrawn / 27.1</a:t>
                      </a:r>
                    </a:p>
                  </a:txBody>
                  <a:tcPr/>
                </a:tc>
                <a:tc>
                  <a:txBody>
                    <a:bodyPr/>
                    <a:lstStyle/>
                    <a:p>
                      <a:r>
                        <a:rPr sz="1100" b="0">
                          <a:solidFill>
                            <a:srgbClr val="202124"/>
                          </a:solidFill>
                        </a:rPr>
                        <a:t>67x faster</a:t>
                      </a:r>
                    </a:p>
                  </a:txBody>
                  <a:tcPr/>
                </a:tc>
              </a:tr>
              <a:tr h="228600">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238.30 ms</a:t>
                      </a:r>
                    </a:p>
                  </a:txBody>
                  <a:tcPr/>
                </a:tc>
                <a:tc>
                  <a:txBody>
                    <a:bodyPr/>
                    <a:lstStyle/>
                    <a:p>
                      <a:r>
                        <a:rPr sz="1100" b="0">
                          <a:solidFill>
                            <a:srgbClr val="202124"/>
                          </a:solidFill>
                        </a:rPr>
                        <a:t>4.20</a:t>
                      </a:r>
                    </a:p>
                  </a:txBody>
                  <a:tcPr/>
                </a:tc>
                <a:tc>
                  <a:txBody>
                    <a:bodyPr/>
                    <a:lstStyle/>
                    <a:p>
                      <a:r>
                        <a:rPr sz="1100" b="1">
                          <a:solidFill>
                            <a:srgbClr val="202124"/>
                          </a:solidFill>
                        </a:rPr>
                        <a:t>516</a:t>
                      </a:r>
                    </a:p>
                  </a:txBody>
                  <a:tcPr/>
                </a:tc>
                <a:tc>
                  <a:txBody>
                    <a:bodyPr/>
                    <a:lstStyle/>
                    <a:p>
                      <a:r>
                        <a:rPr sz="1100" b="0">
                          <a:solidFill>
                            <a:srgbClr val="202124"/>
                          </a:solidFill>
                        </a:rPr>
                        <a:t>18.9 † / 46.3</a:t>
                      </a:r>
                    </a:p>
                  </a:txBody>
                  <a:tcPr/>
                </a:tc>
                <a:tc>
                  <a:txBody>
                    <a:bodyPr/>
                    <a:lstStyle/>
                    <a:p>
                      <a:r>
                        <a:rPr sz="1100" b="0">
                          <a:solidFill>
                            <a:srgbClr val="202124"/>
                          </a:solidFill>
                        </a:rPr>
                        <a:t>60x faster</a:t>
                      </a:r>
                    </a:p>
                  </a:txBody>
                  <a:tcPr/>
                </a:tc>
              </a:tr>
              <a:tr h="228600">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276.30 ms</a:t>
                      </a:r>
                    </a:p>
                  </a:txBody>
                  <a:tcPr/>
                </a:tc>
                <a:tc>
                  <a:txBody>
                    <a:bodyPr/>
                    <a:lstStyle/>
                    <a:p>
                      <a:r>
                        <a:rPr sz="1100" b="0">
                          <a:solidFill>
                            <a:srgbClr val="202124"/>
                          </a:solidFill>
                        </a:rPr>
                        <a:t>3.62</a:t>
                      </a:r>
                    </a:p>
                  </a:txBody>
                  <a:tcPr/>
                </a:tc>
                <a:tc>
                  <a:txBody>
                    <a:bodyPr/>
                    <a:lstStyle/>
                    <a:p>
                      <a:r>
                        <a:rPr sz="1100" b="1">
                          <a:solidFill>
                            <a:srgbClr val="202124"/>
                          </a:solidFill>
                        </a:rPr>
                        <a:t>445</a:t>
                      </a:r>
                    </a:p>
                  </a:txBody>
                  <a:tcPr/>
                </a:tc>
                <a:tc>
                  <a:txBody>
                    <a:bodyPr/>
                    <a:lstStyle/>
                    <a:p>
                      <a:r>
                        <a:rPr sz="1100" b="0">
                          <a:solidFill>
                            <a:srgbClr val="202124"/>
                          </a:solidFill>
                        </a:rPr>
                        <a:t>~16 † / 28</a:t>
                      </a:r>
                    </a:p>
                  </a:txBody>
                  <a:tcPr/>
                </a:tc>
                <a:tc>
                  <a:txBody>
                    <a:bodyPr/>
                    <a:lstStyle/>
                    <a:p>
                      <a:r>
                        <a:rPr sz="1100" b="0">
                          <a:solidFill>
                            <a:srgbClr val="202124"/>
                          </a:solidFill>
                        </a:rPr>
                        <a:t>52x faster</a:t>
                      </a:r>
                    </a:p>
                  </a:txBody>
                  <a:tcPr/>
                </a:tc>
              </a:tr>
              <a:tr h="228600">
                <a:tc>
                  <a:txBody>
                    <a:bodyPr/>
                    <a:lstStyle/>
                    <a:p>
                      <a:r>
                        <a:rPr sz="1100" b="1">
                          <a:solidFill>
                            <a:srgbClr val="202124"/>
                          </a:solidFill>
                        </a:rPr>
                        <a:t>Mali-G720 (10 CU)</a:t>
                      </a:r>
                    </a:p>
                  </a:txBody>
                  <a:tcPr/>
                </a:tc>
                <a:tc>
                  <a:txBody>
                    <a:bodyPr/>
                    <a:lstStyle/>
                    <a:p>
                      <a:r>
                        <a:rPr sz="1100" b="1">
                          <a:solidFill>
                            <a:srgbClr val="4C8BF5"/>
                          </a:solidFill>
                        </a:rPr>
                        <a:t>GPU</a:t>
                      </a:r>
                    </a:p>
                  </a:txBody>
                  <a:tcPr/>
                </a:tc>
                <a:tc>
                  <a:txBody>
                    <a:bodyPr/>
                    <a:lstStyle/>
                    <a:p>
                      <a:r>
                        <a:rPr sz="1100" b="0">
                          <a:solidFill>
                            <a:srgbClr val="202124"/>
                          </a:solidFill>
                        </a:rPr>
                        <a:t>380.00 ms</a:t>
                      </a:r>
                    </a:p>
                  </a:txBody>
                  <a:tcPr/>
                </a:tc>
                <a:tc>
                  <a:txBody>
                    <a:bodyPr/>
                    <a:lstStyle/>
                    <a:p>
                      <a:r>
                        <a:rPr sz="1100" b="0">
                          <a:solidFill>
                            <a:srgbClr val="202124"/>
                          </a:solidFill>
                        </a:rPr>
                        <a:t>2.63</a:t>
                      </a:r>
                    </a:p>
                  </a:txBody>
                  <a:tcPr/>
                </a:tc>
                <a:tc>
                  <a:txBody>
                    <a:bodyPr/>
                    <a:lstStyle/>
                    <a:p>
                      <a:r>
                        <a:rPr sz="1100" b="1">
                          <a:solidFill>
                            <a:srgbClr val="202124"/>
                          </a:solidFill>
                        </a:rPr>
                        <a:t>323</a:t>
                      </a:r>
                    </a:p>
                  </a:txBody>
                  <a:tcPr/>
                </a:tc>
                <a:tc>
                  <a:txBody>
                    <a:bodyPr/>
                    <a:lstStyle/>
                    <a:p>
                      <a:r>
                        <a:rPr sz="1100" b="0">
                          <a:solidFill>
                            <a:srgbClr val="202124"/>
                          </a:solidFill>
                        </a:rPr>
                        <a:t>11.8 † / 46.3</a:t>
                      </a:r>
                    </a:p>
                  </a:txBody>
                  <a:tcPr/>
                </a:tc>
                <a:tc>
                  <a:txBody>
                    <a:bodyPr/>
                    <a:lstStyle/>
                    <a:p>
                      <a:r>
                        <a:rPr sz="1100" b="0">
                          <a:solidFill>
                            <a:srgbClr val="202124"/>
                          </a:solidFill>
                        </a:rPr>
                        <a:t>38x faster</a:t>
                      </a:r>
                    </a:p>
                  </a:txBody>
                  <a:tcPr/>
                </a:tc>
              </a:tr>
              <a:tr h="228600">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442.60 ms</a:t>
                      </a:r>
                    </a:p>
                  </a:txBody>
                  <a:tcPr/>
                </a:tc>
                <a:tc>
                  <a:txBody>
                    <a:bodyPr/>
                    <a:lstStyle/>
                    <a:p>
                      <a:r>
                        <a:rPr sz="1100" b="0">
                          <a:solidFill>
                            <a:srgbClr val="202124"/>
                          </a:solidFill>
                        </a:rPr>
                        <a:t>2.26</a:t>
                      </a:r>
                    </a:p>
                  </a:txBody>
                  <a:tcPr/>
                </a:tc>
                <a:tc>
                  <a:txBody>
                    <a:bodyPr/>
                    <a:lstStyle/>
                    <a:p>
                      <a:r>
                        <a:rPr sz="1100" b="1">
                          <a:solidFill>
                            <a:srgbClr val="202124"/>
                          </a:solidFill>
                        </a:rPr>
                        <a:t>278</a:t>
                      </a:r>
                    </a:p>
                  </a:txBody>
                  <a:tcPr/>
                </a:tc>
                <a:tc>
                  <a:txBody>
                    <a:bodyPr/>
                    <a:lstStyle/>
                    <a:p>
                      <a:r>
                        <a:rPr sz="1100" b="0">
                          <a:solidFill>
                            <a:srgbClr val="202124"/>
                          </a:solidFill>
                        </a:rPr>
                        <a:t>10.2 † / 27.1</a:t>
                      </a:r>
                    </a:p>
                  </a:txBody>
                  <a:tcPr/>
                </a:tc>
                <a:tc>
                  <a:txBody>
                    <a:bodyPr/>
                    <a:lstStyle/>
                    <a:p>
                      <a:r>
                        <a:rPr sz="1100" b="0">
                          <a:solidFill>
                            <a:srgbClr val="202124"/>
                          </a:solidFill>
                        </a:rPr>
                        <a:t>32x faster</a:t>
                      </a:r>
                    </a:p>
                  </a:txBody>
                  <a:tcPr/>
                </a:tc>
              </a:tr>
              <a:tr h="228600">
                <a:tc>
                  <a:txBody>
                    <a:bodyPr/>
                    <a:lstStyle/>
                    <a:p>
                      <a:r>
                        <a:rPr sz="1100" b="1">
                          <a:solidFill>
                            <a:srgbClr val="202124"/>
                          </a:solidFill>
                        </a:rPr>
                        <a:t>Cortex-A720 x1</a:t>
                      </a:r>
                    </a:p>
                  </a:txBody>
                  <a:tcPr/>
                </a:tc>
                <a:tc>
                  <a:txBody>
                    <a:bodyPr/>
                    <a:lstStyle/>
                    <a:p>
                      <a:r>
                        <a:rPr sz="1100" b="1">
                          <a:solidFill>
                            <a:srgbClr val="E8710A"/>
                          </a:solidFill>
                        </a:rPr>
                        <a:t>CPU</a:t>
                      </a:r>
                    </a:p>
                  </a:txBody>
                  <a:tcPr/>
                </a:tc>
                <a:tc>
                  <a:txBody>
                    <a:bodyPr/>
                    <a:lstStyle/>
                    <a:p>
                      <a:r>
                        <a:rPr sz="1100" b="0">
                          <a:solidFill>
                            <a:srgbClr val="202124"/>
                          </a:solidFill>
                        </a:rPr>
                        <a:t>470.90 ms</a:t>
                      </a:r>
                    </a:p>
                  </a:txBody>
                  <a:tcPr/>
                </a:tc>
                <a:tc>
                  <a:txBody>
                    <a:bodyPr/>
                    <a:lstStyle/>
                    <a:p>
                      <a:r>
                        <a:rPr sz="1100" b="0">
                          <a:solidFill>
                            <a:srgbClr val="202124"/>
                          </a:solidFill>
                        </a:rPr>
                        <a:t>2.12</a:t>
                      </a:r>
                    </a:p>
                  </a:txBody>
                  <a:tcPr/>
                </a:tc>
                <a:tc>
                  <a:txBody>
                    <a:bodyPr/>
                    <a:lstStyle/>
                    <a:p>
                      <a:r>
                        <a:rPr sz="1100" b="1">
                          <a:solidFill>
                            <a:srgbClr val="202124"/>
                          </a:solidFill>
                        </a:rPr>
                        <a:t>261</a:t>
                      </a:r>
                    </a:p>
                  </a:txBody>
                  <a:tcPr/>
                </a:tc>
                <a:tc>
                  <a:txBody>
                    <a:bodyPr/>
                    <a:lstStyle/>
                    <a:p>
                      <a:r>
                        <a:rPr sz="1100" b="0">
                          <a:solidFill>
                            <a:srgbClr val="202124"/>
                          </a:solidFill>
                        </a:rPr>
                        <a:t>9.6 † / 46.3</a:t>
                      </a:r>
                    </a:p>
                  </a:txBody>
                  <a:tcPr/>
                </a:tc>
                <a:tc>
                  <a:txBody>
                    <a:bodyPr/>
                    <a:lstStyle/>
                    <a:p>
                      <a:r>
                        <a:rPr sz="1100" b="0">
                          <a:solidFill>
                            <a:srgbClr val="202124"/>
                          </a:solidFill>
                        </a:rPr>
                        <a:t>30x faster</a:t>
                      </a:r>
                    </a:p>
                  </a:txBody>
                  <a:tcPr/>
                </a:tc>
              </a:tr>
              <a:tr h="228600">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640.10 ms</a:t>
                      </a:r>
                    </a:p>
                  </a:txBody>
                  <a:tcPr/>
                </a:tc>
                <a:tc>
                  <a:txBody>
                    <a:bodyPr/>
                    <a:lstStyle/>
                    <a:p>
                      <a:r>
                        <a:rPr sz="1100" b="0">
                          <a:solidFill>
                            <a:srgbClr val="202124"/>
                          </a:solidFill>
                        </a:rPr>
                        <a:t>1.56</a:t>
                      </a:r>
                    </a:p>
                  </a:txBody>
                  <a:tcPr/>
                </a:tc>
                <a:tc>
                  <a:txBody>
                    <a:bodyPr/>
                    <a:lstStyle/>
                    <a:p>
                      <a:r>
                        <a:rPr sz="1100" b="1">
                          <a:solidFill>
                            <a:srgbClr val="202124"/>
                          </a:solidFill>
                        </a:rPr>
                        <a:t>192</a:t>
                      </a:r>
                    </a:p>
                  </a:txBody>
                  <a:tcPr/>
                </a:tc>
                <a:tc>
                  <a:txBody>
                    <a:bodyPr/>
                    <a:lstStyle/>
                    <a:p>
                      <a:r>
                        <a:rPr sz="1100" b="1">
                          <a:solidFill>
                            <a:srgbClr val="187A33"/>
                          </a:solidFill>
                        </a:rPr>
                        <a:t>8.8 / 13.7</a:t>
                      </a:r>
                    </a:p>
                  </a:txBody>
                  <a:tcPr/>
                </a:tc>
                <a:tc>
                  <a:txBody>
                    <a:bodyPr/>
                    <a:lstStyle/>
                    <a:p>
                      <a:r>
                        <a:rPr sz="1100" b="0">
                          <a:solidFill>
                            <a:srgbClr val="202124"/>
                          </a:solidFill>
                        </a:rPr>
                        <a:t>22x faster</a:t>
                      </a:r>
                    </a:p>
                  </a:txBody>
                  <a:tcPr/>
                </a:tc>
              </a:tr>
              <a:tr h="228600">
                <a:tc>
                  <a:txBody>
                    <a:bodyPr/>
                    <a:lstStyle/>
                    <a:p>
                      <a:r>
                        <a:rPr sz="1100" b="1">
                          <a:solidFill>
                            <a:srgbClr val="202124"/>
                          </a:solidFill>
                        </a:rPr>
                        <a:t>Cortex-A55 x1</a:t>
                      </a:r>
                    </a:p>
                  </a:txBody>
                  <a:tcPr/>
                </a:tc>
                <a:tc>
                  <a:txBody>
                    <a:bodyPr/>
                    <a:lstStyle/>
                    <a:p>
                      <a:r>
                        <a:rPr sz="1100" b="1">
                          <a:solidFill>
                            <a:srgbClr val="E8710A"/>
                          </a:solidFill>
                        </a:rPr>
                        <a:t>CPU</a:t>
                      </a:r>
                    </a:p>
                  </a:txBody>
                  <a:tcPr/>
                </a:tc>
                <a:tc>
                  <a:txBody>
                    <a:bodyPr/>
                    <a:lstStyle/>
                    <a:p>
                      <a:r>
                        <a:rPr sz="1100" b="0">
                          <a:solidFill>
                            <a:srgbClr val="202124"/>
                          </a:solidFill>
                        </a:rPr>
                        <a:t>2,201.00 ms</a:t>
                      </a:r>
                    </a:p>
                  </a:txBody>
                  <a:tcPr/>
                </a:tc>
                <a:tc>
                  <a:txBody>
                    <a:bodyPr/>
                    <a:lstStyle/>
                    <a:p>
                      <a:r>
                        <a:rPr sz="1100" b="0">
                          <a:solidFill>
                            <a:srgbClr val="202124"/>
                          </a:solidFill>
                        </a:rPr>
                        <a:t>0.45</a:t>
                      </a:r>
                    </a:p>
                  </a:txBody>
                  <a:tcPr/>
                </a:tc>
                <a:tc>
                  <a:txBody>
                    <a:bodyPr/>
                    <a:lstStyle/>
                    <a:p>
                      <a:r>
                        <a:rPr sz="1100" b="1">
                          <a:solidFill>
                            <a:srgbClr val="202124"/>
                          </a:solidFill>
                        </a:rPr>
                        <a:t>56</a:t>
                      </a:r>
                    </a:p>
                  </a:txBody>
                  <a:tcPr/>
                </a:tc>
                <a:tc>
                  <a:txBody>
                    <a:bodyPr/>
                    <a:lstStyle/>
                    <a:p>
                      <a:r>
                        <a:rPr sz="1100" b="1">
                          <a:solidFill>
                            <a:srgbClr val="187A33"/>
                          </a:solidFill>
                        </a:rPr>
                        <a:t>2.7 / 13.7</a:t>
                      </a:r>
                    </a:p>
                  </a:txBody>
                  <a:tcPr/>
                </a:tc>
                <a:tc>
                  <a:txBody>
                    <a:bodyPr/>
                    <a:lstStyle/>
                    <a:p>
                      <a:r>
                        <a:rPr sz="1100" b="0">
                          <a:solidFill>
                            <a:srgbClr val="202124"/>
                          </a:solidFill>
                        </a:rPr>
                        <a:t>6x faster</a:t>
                      </a:r>
                    </a:p>
                  </a:txBody>
                  <a:tcPr/>
                </a:tc>
              </a:tr>
              <a:tr h="228600">
                <a:tc>
                  <a:txBody>
                    <a:bodyPr/>
                    <a:lstStyle/>
                    <a:p>
                      <a:r>
                        <a:rPr sz="1100" b="1">
                          <a:solidFill>
                            <a:srgbClr val="202124"/>
                          </a:solidFill>
                        </a:rPr>
                        <a:t>Mali-G310 (1 CU)</a:t>
                      </a:r>
                    </a:p>
                  </a:txBody>
                  <a:tcPr/>
                </a:tc>
                <a:tc>
                  <a:txBody>
                    <a:bodyPr/>
                    <a:lstStyle/>
                    <a:p>
                      <a:r>
                        <a:rPr sz="1100" b="1">
                          <a:solidFill>
                            <a:srgbClr val="4C8BF5"/>
                          </a:solidFill>
                        </a:rPr>
                        <a:t>GPU</a:t>
                      </a:r>
                    </a:p>
                  </a:txBody>
                  <a:tcPr/>
                </a:tc>
                <a:tc>
                  <a:txBody>
                    <a:bodyPr/>
                    <a:lstStyle/>
                    <a:p>
                      <a:r>
                        <a:rPr sz="1100" b="0">
                          <a:solidFill>
                            <a:srgbClr val="202124"/>
                          </a:solidFill>
                        </a:rPr>
                        <a:t>2,704.00 ms</a:t>
                      </a:r>
                    </a:p>
                  </a:txBody>
                  <a:tcPr/>
                </a:tc>
                <a:tc>
                  <a:txBody>
                    <a:bodyPr/>
                    <a:lstStyle/>
                    <a:p>
                      <a:r>
                        <a:rPr sz="1100" b="0">
                          <a:solidFill>
                            <a:srgbClr val="202124"/>
                          </a:solidFill>
                        </a:rPr>
                        <a:t>0.37</a:t>
                      </a:r>
                    </a:p>
                  </a:txBody>
                  <a:tcPr/>
                </a:tc>
                <a:tc>
                  <a:txBody>
                    <a:bodyPr/>
                    <a:lstStyle/>
                    <a:p>
                      <a:r>
                        <a:rPr sz="1100" b="1">
                          <a:solidFill>
                            <a:srgbClr val="202124"/>
                          </a:solidFill>
                        </a:rPr>
                        <a:t>45</a:t>
                      </a:r>
                    </a:p>
                  </a:txBody>
                  <a:tcPr/>
                </a:tc>
                <a:tc>
                  <a:txBody>
                    <a:bodyPr/>
                    <a:lstStyle/>
                    <a:p>
                      <a:r>
                        <a:rPr sz="1100" b="1">
                          <a:solidFill>
                            <a:srgbClr val="187A33"/>
                          </a:solidFill>
                        </a:rPr>
                        <a:t>2.1 / 13.7</a:t>
                      </a:r>
                    </a:p>
                  </a:txBody>
                  <a:tcPr/>
                </a:tc>
                <a:tc>
                  <a:txBody>
                    <a:bodyPr/>
                    <a:lstStyle/>
                    <a:p>
                      <a:r>
                        <a:rPr sz="1100" b="0">
                          <a:solidFill>
                            <a:srgbClr val="202124"/>
                          </a:solidFill>
                        </a:rPr>
                        <a:t>5x faster</a:t>
                      </a:r>
                    </a:p>
                  </a:txBody>
                  <a:tcPr/>
                </a:tc>
              </a:tr>
              <a:tr h="228600">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14,265.00 ms</a:t>
                      </a:r>
                    </a:p>
                  </a:txBody>
                  <a:tcPr/>
                </a:tc>
                <a:tc>
                  <a:txBody>
                    <a:bodyPr/>
                    <a:lstStyle/>
                    <a:p>
                      <a:r>
                        <a:rPr sz="1100" b="0">
                          <a:solidFill>
                            <a:srgbClr val="202124"/>
                          </a:solidFill>
                        </a:rPr>
                        <a:t>0.07</a:t>
                      </a:r>
                    </a:p>
                  </a:txBody>
                  <a:tcPr/>
                </a:tc>
                <a:tc>
                  <a:txBody>
                    <a:bodyPr/>
                    <a:lstStyle/>
                    <a:p>
                      <a:r>
                        <a:rPr sz="1100" b="1">
                          <a:solidFill>
                            <a:srgbClr val="202124"/>
                          </a:solidFill>
                        </a:rPr>
                        <a:t>8.6</a:t>
                      </a:r>
                    </a:p>
                  </a:txBody>
                  <a:tcPr/>
                </a:tc>
                <a:tc>
                  <a:txBody>
                    <a:bodyPr/>
                    <a:lstStyle/>
                    <a:p>
                      <a:r>
                        <a:rPr sz="1100" b="0">
                          <a:solidFill>
                            <a:srgbClr val="202124"/>
                          </a:solidFill>
                        </a:rPr>
                        <a:t>— / 13.7</a:t>
                      </a:r>
                    </a:p>
                  </a:txBody>
                  <a:tcPr/>
                </a:tc>
                <a:tc>
                  <a:txBody>
                    <a:bodyPr/>
                    <a:lstStyle/>
                    <a:p>
                      <a:r>
                        <a:rPr sz="1100" b="0">
                          <a:solidFill>
                            <a:srgbClr val="202124"/>
                          </a:solidFill>
                        </a:rPr>
                        <a:t>the floor (1x)</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2800" b="1">
                <a:solidFill>
                  <a:srgbClr val="4C8BF5"/>
                </a:solidFill>
                <a:latin typeface="Calibri"/>
              </a:rPr>
              <a:t>1,575x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2800" b="1">
                <a:solidFill>
                  <a:srgbClr val="202124"/>
                </a:solidFill>
                <a:latin typeface="Calibri"/>
              </a:rPr>
              <a:t>1.30x / 1.60x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cluster over one NSP at matched tiers</a:t>
            </a:r>
          </a:p>
          <a:p>
            <a:r>
              <a:rPr sz="1200">
                <a:solidFill>
                  <a:srgbClr val="5F6368"/>
                </a:solidFill>
                <a:latin typeface="Calibri"/>
              </a:rPr>
              <a:t>/ one NSP over one A78C core</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2800" b="1">
                <a:solidFill>
                  <a:srgbClr val="202124"/>
                </a:solidFill>
                <a:latin typeface="Calibri"/>
              </a:rPr>
              <a:t>13 / 4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targets / programming models (CUDA,</a:t>
            </a:r>
          </a:p>
          <a:p>
            <a:r>
              <a:rPr sz="1200">
                <a:solidFill>
                  <a:srgbClr val="5F6368"/>
                </a:solidFill>
                <a:latin typeface="Calibri"/>
              </a:rPr>
              <a:t>OpenCL, NEON, HVX) / one golden hash</a:t>
            </a:r>
          </a:p>
        </p:txBody>
      </p:sp>
      <p:sp>
        <p:nvSpPr>
          <p:cNvPr id="11" name="TextBox 10"/>
          <p:cNvSpPr txBox="1"/>
          <p:nvPr/>
        </p:nvSpPr>
        <p:spPr>
          <a:xfrm>
            <a:off x="548640" y="6620256"/>
            <a:ext cx="11155680" cy="237744"/>
          </a:xfrm>
          <a:prstGeom prst="rect">
            <a:avLst/>
          </a:prstGeom>
          <a:noFill/>
        </p:spPr>
        <p:txBody>
          <a:bodyPr wrap="square">
            <a:spAutoFit/>
          </a:bodyPr>
          <a:lstStyle/>
          <a:p>
            <a:pPr algn="l"/>
            <a:r>
              <a:rPr sz="800" b="0">
                <a:solidFill>
                  <a:srgbClr val="5F6368"/>
                </a:solidFill>
                <a:latin typeface="Calibri"/>
              </a:rPr>
              <a:t>MDE/s (work) = both scales: (0.384+1.536) Mpx x 64 / runtime. OFA rows: their OWN SGM at matched geometry, throughput only. ‡ DRAM achieved / ceiling GB/s. GREEN = MEASURED (A55 + G310 at the i.MX95 DDR controller -- six A55s take 64% of the whole chip's bus; the OFA rows by Jetson EMC sampling, ~idle). † = DERIVED: the 4.50 GB/frame streaming byte model / the measured frame time, cache-reuse-free so a slight under-count (it reproduces the measured A55x6 cell at 80%). Every ceiling is MEASURED by copy probe. RED = the A78C cell withdrawn as window-dependent -- see the withdrawn-cell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Configuration B: multi-scale, 8-path</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1920x800 in, 960x400 out - two FULL 64-disparity scales with data costs averaged (multi-scale fusion, not coarse-to-fine), census 9x7 on SobelX, 8 paths with direction-weighted P1 (40/20/10), P2=200 saturating.</a:t>
            </a:r>
          </a:p>
        </p:txBody>
      </p:sp>
      <p:pic>
        <p:nvPicPr>
          <p:cNvPr id="4" name="Picture 3" descr="run1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00" b="0">
                <a:solidFill>
                  <a:srgbClr val="202124"/>
                </a:solidFill>
                <a:latin typeface="Calibri"/>
              </a:rPr>
              <a:t>Same roster, same acceptance model: every row bit-exact to golden bcb9cb0bd6f49799, same implementation tiers as Configuration A (tuned CUDA / OpenCL / NEON+OpenMP / HVX, scalar oracle as the floor). At matched tiers it ranks like Configuration A - the CPU cluster leads one NSP ~1.3x on both; per engine, one NSP beats one A78C core 1.60x.</a:t>
            </a:r>
          </a:p>
        </p:txBody>
      </p:sp>
      <p:sp>
        <p:nvSpPr>
          <p:cNvPr id="6" name="TextBox 5"/>
          <p:cNvSpPr txBox="1"/>
          <p:nvPr/>
        </p:nvSpPr>
        <p:spPr>
          <a:xfrm>
            <a:off x="548640" y="6565392"/>
            <a:ext cx="11155680" cy="274320"/>
          </a:xfrm>
          <a:prstGeom prst="rect">
            <a:avLst/>
          </a:prstGeom>
          <a:noFill/>
        </p:spPr>
        <p:txBody>
          <a:bodyPr wrap="square">
            <a:spAutoFit/>
          </a:bodyPr>
          <a:lstStyle/>
          <a:p>
            <a:pPr algn="l"/>
            <a:r>
              <a:rPr sz="1000" b="0">
                <a:solidFill>
                  <a:srgbClr val="5F6368"/>
                </a:solidFill>
                <a:latin typeface="Calibri"/>
              </a:rPr>
              <a:t>MDE/s is the work-performed convention - both scales count. The OFA engines cannot run this configuration (no 8-path, weighted-P1 or two-scale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C: one variable at a time</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C is exactly B's algorithm on A's own 1920x1080 stereo pair (out 960x540): A-&gt;C isolates the ALGORITHM, C-&gt;B isolates RESOLUTION - one knob each. Golden 0f0961d623009df5, every software row bit-exact.</a:t>
            </a:r>
          </a:p>
        </p:txBody>
      </p:sp>
      <p:graphicFrame>
        <p:nvGraphicFramePr>
          <p:cNvPr id="4" name="Table 3"/>
          <p:cNvGraphicFramePr>
            <a:graphicFrameLocks noGrp="1"/>
          </p:cNvGraphicFramePr>
          <p:nvPr/>
        </p:nvGraphicFramePr>
        <p:xfrm>
          <a:off x="548640" y="1517904"/>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950" b="0">
                          <a:solidFill>
                            <a:srgbClr val="202124"/>
                          </a:solidFill>
                        </a:rPr>
                        <a:t>NVIDIA OFA on Thor (ds=2)</a:t>
                      </a:r>
                    </a:p>
                  </a:txBody>
                  <a:tcPr/>
                </a:tc>
                <a:tc>
                  <a:txBody>
                    <a:bodyPr/>
                    <a:lstStyle/>
                    <a:p>
                      <a:r>
                        <a:rPr sz="950" b="1">
                          <a:solidFill>
                            <a:srgbClr val="7B4FD1"/>
                          </a:solidFill>
                        </a:rPr>
                        <a:t>HW</a:t>
                      </a:r>
                    </a:p>
                  </a:txBody>
                  <a:tcPr/>
                </a:tc>
                <a:tc>
                  <a:txBody>
                    <a:bodyPr/>
                    <a:lstStyle/>
                    <a:p>
                      <a:r>
                        <a:rPr sz="950" b="0">
                          <a:solidFill>
                            <a:srgbClr val="202124"/>
                          </a:solidFill>
                        </a:rPr>
                        <a:t>4.08 ms</a:t>
                      </a:r>
                    </a:p>
                  </a:txBody>
                  <a:tcPr/>
                </a:tc>
                <a:tc>
                  <a:txBody>
                    <a:bodyPr/>
                    <a:lstStyle/>
                    <a:p>
                      <a:r>
                        <a:rPr sz="950" b="0">
                          <a:solidFill>
                            <a:srgbClr val="202124"/>
                          </a:solidFill>
                        </a:rPr>
                        <a:t>245</a:t>
                      </a:r>
                    </a:p>
                  </a:txBody>
                  <a:tcPr/>
                </a:tc>
                <a:tc>
                  <a:txBody>
                    <a:bodyPr/>
                    <a:lstStyle/>
                    <a:p>
                      <a:r>
                        <a:rPr sz="950" b="0">
                          <a:solidFill>
                            <a:srgbClr val="202124"/>
                          </a:solidFill>
                        </a:rPr>
                        <a:t>—</a:t>
                      </a:r>
                    </a:p>
                  </a:txBody>
                  <a:tcPr/>
                </a:tc>
                <a:tc>
                  <a:txBody>
                    <a:bodyPr/>
                    <a:lstStyle/>
                    <a:p>
                      <a:r>
                        <a:rPr sz="950" b="0">
                          <a:solidFill>
                            <a:srgbClr val="202124"/>
                          </a:solidFill>
                        </a:rPr>
                        <a:t>— / 249</a:t>
                      </a:r>
                    </a:p>
                  </a:txBody>
                  <a:tcPr/>
                </a:tc>
                <a:tc>
                  <a:txBody>
                    <a:bodyPr/>
                    <a:lstStyle/>
                    <a:p>
                      <a:r>
                        <a:rPr sz="950" b="0">
                          <a:solidFill>
                            <a:srgbClr val="202124"/>
                          </a:solidFill>
                        </a:rPr>
                        <a:t>4,417x (time only)</a:t>
                      </a:r>
                    </a:p>
                  </a:txBody>
                  <a:tcPr/>
                </a:tc>
              </a:tr>
              <a:tr h="228600">
                <a:tc>
                  <a:txBody>
                    <a:bodyPr/>
                    <a:lstStyle/>
                    <a:p>
                      <a:r>
                        <a:rPr sz="950" b="1">
                          <a:solidFill>
                            <a:srgbClr val="202124"/>
                          </a:solidFill>
                        </a:rPr>
                        <a:t>NVIDIA RTX 5090</a:t>
                      </a:r>
                    </a:p>
                  </a:txBody>
                  <a:tcPr/>
                </a:tc>
                <a:tc>
                  <a:txBody>
                    <a:bodyPr/>
                    <a:lstStyle/>
                    <a:p>
                      <a:r>
                        <a:rPr sz="950" b="1">
                          <a:solidFill>
                            <a:srgbClr val="4C8BF5"/>
                          </a:solidFill>
                        </a:rPr>
                        <a:t>GPU</a:t>
                      </a:r>
                    </a:p>
                  </a:txBody>
                  <a:tcPr/>
                </a:tc>
                <a:tc>
                  <a:txBody>
                    <a:bodyPr/>
                    <a:lstStyle/>
                    <a:p>
                      <a:r>
                        <a:rPr sz="950" b="0">
                          <a:solidFill>
                            <a:srgbClr val="202124"/>
                          </a:solidFill>
                        </a:rPr>
                        <a:t>11.96 ms</a:t>
                      </a:r>
                    </a:p>
                  </a:txBody>
                  <a:tcPr/>
                </a:tc>
                <a:tc>
                  <a:txBody>
                    <a:bodyPr/>
                    <a:lstStyle/>
                    <a:p>
                      <a:r>
                        <a:rPr sz="950" b="0">
                          <a:solidFill>
                            <a:srgbClr val="202124"/>
                          </a:solidFill>
                        </a:rPr>
                        <a:t>83.6</a:t>
                      </a:r>
                    </a:p>
                  </a:txBody>
                  <a:tcPr/>
                </a:tc>
                <a:tc>
                  <a:txBody>
                    <a:bodyPr/>
                    <a:lstStyle/>
                    <a:p>
                      <a:r>
                        <a:rPr sz="950" b="1">
                          <a:solidFill>
                            <a:srgbClr val="202124"/>
                          </a:solidFill>
                        </a:rPr>
                        <a:t>13,870</a:t>
                      </a:r>
                    </a:p>
                  </a:txBody>
                  <a:tcPr/>
                </a:tc>
                <a:tc>
                  <a:txBody>
                    <a:bodyPr/>
                    <a:lstStyle/>
                    <a:p>
                      <a:r>
                        <a:rPr sz="950" b="0">
                          <a:solidFill>
                            <a:srgbClr val="202124"/>
                          </a:solidFill>
                        </a:rPr>
                        <a:t>508 † / 1,385</a:t>
                      </a:r>
                    </a:p>
                  </a:txBody>
                  <a:tcPr/>
                </a:tc>
                <a:tc>
                  <a:txBody>
                    <a:bodyPr/>
                    <a:lstStyle/>
                    <a:p>
                      <a:r>
                        <a:rPr sz="950" b="0">
                          <a:solidFill>
                            <a:srgbClr val="202124"/>
                          </a:solidFill>
                        </a:rPr>
                        <a:t>1,507x faster</a:t>
                      </a:r>
                    </a:p>
                  </a:txBody>
                  <a:tcPr/>
                </a:tc>
              </a:tr>
              <a:tr h="228600">
                <a:tc>
                  <a:txBody>
                    <a:bodyPr/>
                    <a:lstStyle/>
                    <a:p>
                      <a:r>
                        <a:rPr sz="950" b="0">
                          <a:solidFill>
                            <a:srgbClr val="202124"/>
                          </a:solidFill>
                        </a:rPr>
                        <a:t>NVIDIA OFA on Orin (ds=2)</a:t>
                      </a:r>
                    </a:p>
                  </a:txBody>
                  <a:tcPr/>
                </a:tc>
                <a:tc>
                  <a:txBody>
                    <a:bodyPr/>
                    <a:lstStyle/>
                    <a:p>
                      <a:r>
                        <a:rPr sz="950" b="1">
                          <a:solidFill>
                            <a:srgbClr val="7B4FD1"/>
                          </a:solidFill>
                        </a:rPr>
                        <a:t>HW</a:t>
                      </a:r>
                    </a:p>
                  </a:txBody>
                  <a:tcPr/>
                </a:tc>
                <a:tc>
                  <a:txBody>
                    <a:bodyPr/>
                    <a:lstStyle/>
                    <a:p>
                      <a:r>
                        <a:rPr sz="950" b="0">
                          <a:solidFill>
                            <a:srgbClr val="202124"/>
                          </a:solidFill>
                        </a:rPr>
                        <a:t>19.51 ms</a:t>
                      </a:r>
                    </a:p>
                  </a:txBody>
                  <a:tcPr/>
                </a:tc>
                <a:tc>
                  <a:txBody>
                    <a:bodyPr/>
                    <a:lstStyle/>
                    <a:p>
                      <a:r>
                        <a:rPr sz="950" b="0">
                          <a:solidFill>
                            <a:srgbClr val="202124"/>
                          </a:solidFill>
                        </a:rPr>
                        <a:t>51</a:t>
                      </a:r>
                    </a:p>
                  </a:txBody>
                  <a:tcPr/>
                </a:tc>
                <a:tc>
                  <a:txBody>
                    <a:bodyPr/>
                    <a:lstStyle/>
                    <a:p>
                      <a:r>
                        <a:rPr sz="950" b="0">
                          <a:solidFill>
                            <a:srgbClr val="202124"/>
                          </a:solidFill>
                        </a:rPr>
                        <a:t>—</a:t>
                      </a:r>
                    </a:p>
                  </a:txBody>
                  <a:tcPr/>
                </a:tc>
                <a:tc>
                  <a:txBody>
                    <a:bodyPr/>
                    <a:lstStyle/>
                    <a:p>
                      <a:r>
                        <a:rPr sz="950" b="0">
                          <a:solidFill>
                            <a:srgbClr val="202124"/>
                          </a:solidFill>
                        </a:rPr>
                        <a:t>— / 175</a:t>
                      </a:r>
                    </a:p>
                  </a:txBody>
                  <a:tcPr/>
                </a:tc>
                <a:tc>
                  <a:txBody>
                    <a:bodyPr/>
                    <a:lstStyle/>
                    <a:p>
                      <a:r>
                        <a:rPr sz="950" b="0">
                          <a:solidFill>
                            <a:srgbClr val="202124"/>
                          </a:solidFill>
                        </a:rPr>
                        <a:t>924x (time only)</a:t>
                      </a:r>
                    </a:p>
                  </a:txBody>
                  <a:tcPr/>
                </a:tc>
              </a:tr>
              <a:tr h="228600">
                <a:tc>
                  <a:txBody>
                    <a:bodyPr/>
                    <a:lstStyle/>
                    <a:p>
                      <a:r>
                        <a:rPr sz="950" b="1">
                          <a:solidFill>
                            <a:srgbClr val="202124"/>
                          </a:solidFill>
                        </a:rPr>
                        <a:t>NVIDIA Thor</a:t>
                      </a:r>
                    </a:p>
                  </a:txBody>
                  <a:tcPr/>
                </a:tc>
                <a:tc>
                  <a:txBody>
                    <a:bodyPr/>
                    <a:lstStyle/>
                    <a:p>
                      <a:r>
                        <a:rPr sz="950" b="1">
                          <a:solidFill>
                            <a:srgbClr val="4C8BF5"/>
                          </a:solidFill>
                        </a:rPr>
                        <a:t>GPU</a:t>
                      </a:r>
                    </a:p>
                  </a:txBody>
                  <a:tcPr/>
                </a:tc>
                <a:tc>
                  <a:txBody>
                    <a:bodyPr/>
                    <a:lstStyle/>
                    <a:p>
                      <a:r>
                        <a:rPr sz="950" b="0">
                          <a:solidFill>
                            <a:srgbClr val="202124"/>
                          </a:solidFill>
                        </a:rPr>
                        <a:t>56.70 ms</a:t>
                      </a:r>
                    </a:p>
                  </a:txBody>
                  <a:tcPr/>
                </a:tc>
                <a:tc>
                  <a:txBody>
                    <a:bodyPr/>
                    <a:lstStyle/>
                    <a:p>
                      <a:r>
                        <a:rPr sz="950" b="0">
                          <a:solidFill>
                            <a:srgbClr val="202124"/>
                          </a:solidFill>
                        </a:rPr>
                        <a:t>17.6</a:t>
                      </a:r>
                    </a:p>
                  </a:txBody>
                  <a:tcPr/>
                </a:tc>
                <a:tc>
                  <a:txBody>
                    <a:bodyPr/>
                    <a:lstStyle/>
                    <a:p>
                      <a:r>
                        <a:rPr sz="950" b="1">
                          <a:solidFill>
                            <a:srgbClr val="202124"/>
                          </a:solidFill>
                        </a:rPr>
                        <a:t>2,928</a:t>
                      </a:r>
                    </a:p>
                  </a:txBody>
                  <a:tcPr/>
                </a:tc>
                <a:tc>
                  <a:txBody>
                    <a:bodyPr/>
                    <a:lstStyle/>
                    <a:p>
                      <a:r>
                        <a:rPr sz="950" b="0">
                          <a:solidFill>
                            <a:srgbClr val="202124"/>
                          </a:solidFill>
                        </a:rPr>
                        <a:t>107 † / 249</a:t>
                      </a:r>
                    </a:p>
                  </a:txBody>
                  <a:tcPr/>
                </a:tc>
                <a:tc>
                  <a:txBody>
                    <a:bodyPr/>
                    <a:lstStyle/>
                    <a:p>
                      <a:r>
                        <a:rPr sz="950" b="0">
                          <a:solidFill>
                            <a:srgbClr val="202124"/>
                          </a:solidFill>
                        </a:rPr>
                        <a:t>318x faster</a:t>
                      </a:r>
                    </a:p>
                  </a:txBody>
                  <a:tcPr/>
                </a:tc>
              </a:tr>
              <a:tr h="228600">
                <a:tc>
                  <a:txBody>
                    <a:bodyPr/>
                    <a:lstStyle/>
                    <a:p>
                      <a:r>
                        <a:rPr sz="950" b="1">
                          <a:solidFill>
                            <a:srgbClr val="202124"/>
                          </a:solidFill>
                        </a:rPr>
                        <a:t>NVIDIA Orin AGX</a:t>
                      </a:r>
                    </a:p>
                  </a:txBody>
                  <a:tcPr/>
                </a:tc>
                <a:tc>
                  <a:txBody>
                    <a:bodyPr/>
                    <a:lstStyle/>
                    <a:p>
                      <a:r>
                        <a:rPr sz="950" b="1">
                          <a:solidFill>
                            <a:srgbClr val="4C8BF5"/>
                          </a:solidFill>
                        </a:rPr>
                        <a:t>GPU</a:t>
                      </a:r>
                    </a:p>
                  </a:txBody>
                  <a:tcPr/>
                </a:tc>
                <a:tc>
                  <a:txBody>
                    <a:bodyPr/>
                    <a:lstStyle/>
                    <a:p>
                      <a:r>
                        <a:rPr sz="950" b="0">
                          <a:solidFill>
                            <a:srgbClr val="202124"/>
                          </a:solidFill>
                        </a:rPr>
                        <a:t>96.90 ms</a:t>
                      </a:r>
                    </a:p>
                  </a:txBody>
                  <a:tcPr/>
                </a:tc>
                <a:tc>
                  <a:txBody>
                    <a:bodyPr/>
                    <a:lstStyle/>
                    <a:p>
                      <a:r>
                        <a:rPr sz="950" b="0">
                          <a:solidFill>
                            <a:srgbClr val="202124"/>
                          </a:solidFill>
                        </a:rPr>
                        <a:t>10.3</a:t>
                      </a:r>
                    </a:p>
                  </a:txBody>
                  <a:tcPr/>
                </a:tc>
                <a:tc>
                  <a:txBody>
                    <a:bodyPr/>
                    <a:lstStyle/>
                    <a:p>
                      <a:r>
                        <a:rPr sz="950" b="1">
                          <a:solidFill>
                            <a:srgbClr val="202124"/>
                          </a:solidFill>
                        </a:rPr>
                        <a:t>1,711</a:t>
                      </a:r>
                    </a:p>
                  </a:txBody>
                  <a:tcPr/>
                </a:tc>
                <a:tc>
                  <a:txBody>
                    <a:bodyPr/>
                    <a:lstStyle/>
                    <a:p>
                      <a:r>
                        <a:rPr sz="950" b="0">
                          <a:solidFill>
                            <a:srgbClr val="202124"/>
                          </a:solidFill>
                        </a:rPr>
                        <a:t>63 † / 175</a:t>
                      </a:r>
                    </a:p>
                  </a:txBody>
                  <a:tcPr/>
                </a:tc>
                <a:tc>
                  <a:txBody>
                    <a:bodyPr/>
                    <a:lstStyle/>
                    <a:p>
                      <a:r>
                        <a:rPr sz="950" b="0">
                          <a:solidFill>
                            <a:srgbClr val="202124"/>
                          </a:solidFill>
                        </a:rPr>
                        <a:t>186x faster</a:t>
                      </a:r>
                    </a:p>
                  </a:txBody>
                  <a:tcPr/>
                </a:tc>
              </a:tr>
              <a:tr h="228600">
                <a:tc>
                  <a:txBody>
                    <a:bodyPr/>
                    <a:lstStyle/>
                    <a:p>
                      <a:r>
                        <a:rPr sz="950" b="1">
                          <a:solidFill>
                            <a:srgbClr val="202124"/>
                          </a:solidFill>
                        </a:rPr>
                        <a:t>Cortex-A720 x8</a:t>
                      </a:r>
                    </a:p>
                  </a:txBody>
                  <a:tcPr/>
                </a:tc>
                <a:tc>
                  <a:txBody>
                    <a:bodyPr/>
                    <a:lstStyle/>
                    <a:p>
                      <a:r>
                        <a:rPr sz="950" b="1">
                          <a:solidFill>
                            <a:srgbClr val="E8710A"/>
                          </a:solidFill>
                        </a:rPr>
                        <a:t>CPU</a:t>
                      </a:r>
                    </a:p>
                  </a:txBody>
                  <a:tcPr/>
                </a:tc>
                <a:tc>
                  <a:txBody>
                    <a:bodyPr/>
                    <a:lstStyle/>
                    <a:p>
                      <a:r>
                        <a:rPr sz="950" b="0">
                          <a:solidFill>
                            <a:srgbClr val="202124"/>
                          </a:solidFill>
                        </a:rPr>
                        <a:t>239.60 ms</a:t>
                      </a:r>
                    </a:p>
                  </a:txBody>
                  <a:tcPr/>
                </a:tc>
                <a:tc>
                  <a:txBody>
                    <a:bodyPr/>
                    <a:lstStyle/>
                    <a:p>
                      <a:r>
                        <a:rPr sz="950" b="0">
                          <a:solidFill>
                            <a:srgbClr val="202124"/>
                          </a:solidFill>
                        </a:rPr>
                        <a:t>4.17</a:t>
                      </a:r>
                    </a:p>
                  </a:txBody>
                  <a:tcPr/>
                </a:tc>
                <a:tc>
                  <a:txBody>
                    <a:bodyPr/>
                    <a:lstStyle/>
                    <a:p>
                      <a:r>
                        <a:rPr sz="950" b="1">
                          <a:solidFill>
                            <a:srgbClr val="202124"/>
                          </a:solidFill>
                        </a:rPr>
                        <a:t>692</a:t>
                      </a:r>
                    </a:p>
                  </a:txBody>
                  <a:tcPr/>
                </a:tc>
                <a:tc>
                  <a:txBody>
                    <a:bodyPr/>
                    <a:lstStyle/>
                    <a:p>
                      <a:r>
                        <a:rPr sz="950" b="0">
                          <a:solidFill>
                            <a:srgbClr val="202124"/>
                          </a:solidFill>
                        </a:rPr>
                        <a:t>25.4 † / 46.3</a:t>
                      </a:r>
                    </a:p>
                  </a:txBody>
                  <a:tcPr/>
                </a:tc>
                <a:tc>
                  <a:txBody>
                    <a:bodyPr/>
                    <a:lstStyle/>
                    <a:p>
                      <a:r>
                        <a:rPr sz="950" b="0">
                          <a:solidFill>
                            <a:srgbClr val="202124"/>
                          </a:solidFill>
                        </a:rPr>
                        <a:t>75x faster</a:t>
                      </a:r>
                    </a:p>
                  </a:txBody>
                  <a:tcPr/>
                </a:tc>
              </a:tr>
              <a:tr h="228600">
                <a:tc>
                  <a:txBody>
                    <a:bodyPr/>
                    <a:lstStyle/>
                    <a:p>
                      <a:r>
                        <a:rPr sz="950" b="1">
                          <a:solidFill>
                            <a:srgbClr val="202124"/>
                          </a:solidFill>
                        </a:rPr>
                        <a:t>Cortex-A78C x8 (6 threads)</a:t>
                      </a:r>
                    </a:p>
                  </a:txBody>
                  <a:tcPr/>
                </a:tc>
                <a:tc>
                  <a:txBody>
                    <a:bodyPr/>
                    <a:lstStyle/>
                    <a:p>
                      <a:r>
                        <a:rPr sz="950" b="1">
                          <a:solidFill>
                            <a:srgbClr val="E8710A"/>
                          </a:solidFill>
                        </a:rPr>
                        <a:t>CPU</a:t>
                      </a:r>
                    </a:p>
                  </a:txBody>
                  <a:tcPr/>
                </a:tc>
                <a:tc>
                  <a:txBody>
                    <a:bodyPr/>
                    <a:lstStyle/>
                    <a:p>
                      <a:r>
                        <a:rPr sz="950" b="0">
                          <a:solidFill>
                            <a:srgbClr val="202124"/>
                          </a:solidFill>
                        </a:rPr>
                        <a:t>291.80 ms</a:t>
                      </a:r>
                    </a:p>
                  </a:txBody>
                  <a:tcPr/>
                </a:tc>
                <a:tc>
                  <a:txBody>
                    <a:bodyPr/>
                    <a:lstStyle/>
                    <a:p>
                      <a:r>
                        <a:rPr sz="950" b="0">
                          <a:solidFill>
                            <a:srgbClr val="202124"/>
                          </a:solidFill>
                        </a:rPr>
                        <a:t>3.43</a:t>
                      </a:r>
                    </a:p>
                  </a:txBody>
                  <a:tcPr/>
                </a:tc>
                <a:tc>
                  <a:txBody>
                    <a:bodyPr/>
                    <a:lstStyle/>
                    <a:p>
                      <a:r>
                        <a:rPr sz="950" b="1">
                          <a:solidFill>
                            <a:srgbClr val="202124"/>
                          </a:solidFill>
                        </a:rPr>
                        <a:t>569</a:t>
                      </a:r>
                    </a:p>
                  </a:txBody>
                  <a:tcPr/>
                </a:tc>
                <a:tc>
                  <a:txBody>
                    <a:bodyPr/>
                    <a:lstStyle/>
                    <a:p>
                      <a:r>
                        <a:rPr sz="950" b="0">
                          <a:solidFill>
                            <a:srgbClr val="D93025"/>
                          </a:solidFill>
                        </a:rPr>
                        <a:t>withdrawn / 27.1</a:t>
                      </a:r>
                    </a:p>
                  </a:txBody>
                  <a:tcPr/>
                </a:tc>
                <a:tc>
                  <a:txBody>
                    <a:bodyPr/>
                    <a:lstStyle/>
                    <a:p>
                      <a:r>
                        <a:rPr sz="950" b="0">
                          <a:solidFill>
                            <a:srgbClr val="202124"/>
                          </a:solidFill>
                        </a:rPr>
                        <a:t>62x faster</a:t>
                      </a:r>
                    </a:p>
                  </a:txBody>
                  <a:tcPr/>
                </a:tc>
              </a:tr>
              <a:tr h="228600">
                <a:tc>
                  <a:txBody>
                    <a:bodyPr/>
                    <a:lstStyle/>
                    <a:p>
                      <a:r>
                        <a:rPr sz="950" b="1">
                          <a:solidFill>
                            <a:srgbClr val="202124"/>
                          </a:solidFill>
                        </a:rPr>
                        <a:t>Hexagon v73 NSP</a:t>
                      </a:r>
                    </a:p>
                  </a:txBody>
                  <a:tcPr/>
                </a:tc>
                <a:tc>
                  <a:txBody>
                    <a:bodyPr/>
                    <a:lstStyle/>
                    <a:p>
                      <a:r>
                        <a:rPr sz="950" b="1">
                          <a:solidFill>
                            <a:srgbClr val="12B5A5"/>
                          </a:solidFill>
                        </a:rPr>
                        <a:t>DSP</a:t>
                      </a:r>
                    </a:p>
                  </a:txBody>
                  <a:tcPr/>
                </a:tc>
                <a:tc>
                  <a:txBody>
                    <a:bodyPr/>
                    <a:lstStyle/>
                    <a:p>
                      <a:r>
                        <a:rPr sz="950" b="0">
                          <a:solidFill>
                            <a:srgbClr val="202124"/>
                          </a:solidFill>
                        </a:rPr>
                        <a:t>372.40 ms</a:t>
                      </a:r>
                    </a:p>
                  </a:txBody>
                  <a:tcPr/>
                </a:tc>
                <a:tc>
                  <a:txBody>
                    <a:bodyPr/>
                    <a:lstStyle/>
                    <a:p>
                      <a:r>
                        <a:rPr sz="950" b="0">
                          <a:solidFill>
                            <a:srgbClr val="202124"/>
                          </a:solidFill>
                        </a:rPr>
                        <a:t>2.69</a:t>
                      </a:r>
                    </a:p>
                  </a:txBody>
                  <a:tcPr/>
                </a:tc>
                <a:tc>
                  <a:txBody>
                    <a:bodyPr/>
                    <a:lstStyle/>
                    <a:p>
                      <a:r>
                        <a:rPr sz="950" b="1">
                          <a:solidFill>
                            <a:srgbClr val="202124"/>
                          </a:solidFill>
                        </a:rPr>
                        <a:t>446</a:t>
                      </a:r>
                    </a:p>
                  </a:txBody>
                  <a:tcPr/>
                </a:tc>
                <a:tc>
                  <a:txBody>
                    <a:bodyPr/>
                    <a:lstStyle/>
                    <a:p>
                      <a:r>
                        <a:rPr sz="950" b="0">
                          <a:solidFill>
                            <a:srgbClr val="202124"/>
                          </a:solidFill>
                        </a:rPr>
                        <a:t>16.3 † / 28</a:t>
                      </a:r>
                    </a:p>
                  </a:txBody>
                  <a:tcPr/>
                </a:tc>
                <a:tc>
                  <a:txBody>
                    <a:bodyPr/>
                    <a:lstStyle/>
                    <a:p>
                      <a:r>
                        <a:rPr sz="950" b="0">
                          <a:solidFill>
                            <a:srgbClr val="202124"/>
                          </a:solidFill>
                        </a:rPr>
                        <a:t>48x faster</a:t>
                      </a:r>
                    </a:p>
                  </a:txBody>
                  <a:tcPr/>
                </a:tc>
              </a:tr>
              <a:tr h="228600">
                <a:tc>
                  <a:txBody>
                    <a:bodyPr/>
                    <a:lstStyle/>
                    <a:p>
                      <a:r>
                        <a:rPr sz="950" b="1">
                          <a:solidFill>
                            <a:srgbClr val="202124"/>
                          </a:solidFill>
                        </a:rPr>
                        <a:t>Mali-G720 (10 CU)</a:t>
                      </a:r>
                    </a:p>
                  </a:txBody>
                  <a:tcPr/>
                </a:tc>
                <a:tc>
                  <a:txBody>
                    <a:bodyPr/>
                    <a:lstStyle/>
                    <a:p>
                      <a:r>
                        <a:rPr sz="950" b="1">
                          <a:solidFill>
                            <a:srgbClr val="4C8BF5"/>
                          </a:solidFill>
                        </a:rPr>
                        <a:t>GPU</a:t>
                      </a:r>
                    </a:p>
                  </a:txBody>
                  <a:tcPr/>
                </a:tc>
                <a:tc>
                  <a:txBody>
                    <a:bodyPr/>
                    <a:lstStyle/>
                    <a:p>
                      <a:r>
                        <a:rPr sz="950" b="0">
                          <a:solidFill>
                            <a:srgbClr val="202124"/>
                          </a:solidFill>
                        </a:rPr>
                        <a:t>509.40 ms</a:t>
                      </a:r>
                    </a:p>
                  </a:txBody>
                  <a:tcPr/>
                </a:tc>
                <a:tc>
                  <a:txBody>
                    <a:bodyPr/>
                    <a:lstStyle/>
                    <a:p>
                      <a:r>
                        <a:rPr sz="950" b="0">
                          <a:solidFill>
                            <a:srgbClr val="202124"/>
                          </a:solidFill>
                        </a:rPr>
                        <a:t>1.96</a:t>
                      </a:r>
                    </a:p>
                  </a:txBody>
                  <a:tcPr/>
                </a:tc>
                <a:tc>
                  <a:txBody>
                    <a:bodyPr/>
                    <a:lstStyle/>
                    <a:p>
                      <a:r>
                        <a:rPr sz="950" b="1">
                          <a:solidFill>
                            <a:srgbClr val="202124"/>
                          </a:solidFill>
                        </a:rPr>
                        <a:t>326</a:t>
                      </a:r>
                    </a:p>
                  </a:txBody>
                  <a:tcPr/>
                </a:tc>
                <a:tc>
                  <a:txBody>
                    <a:bodyPr/>
                    <a:lstStyle/>
                    <a:p>
                      <a:r>
                        <a:rPr sz="950" b="0">
                          <a:solidFill>
                            <a:srgbClr val="202124"/>
                          </a:solidFill>
                        </a:rPr>
                        <a:t>11.9 † / 46.3</a:t>
                      </a:r>
                    </a:p>
                  </a:txBody>
                  <a:tcPr/>
                </a:tc>
                <a:tc>
                  <a:txBody>
                    <a:bodyPr/>
                    <a:lstStyle/>
                    <a:p>
                      <a:r>
                        <a:rPr sz="950" b="0">
                          <a:solidFill>
                            <a:srgbClr val="202124"/>
                          </a:solidFill>
                        </a:rPr>
                        <a:t>35x faster</a:t>
                      </a:r>
                    </a:p>
                  </a:txBody>
                  <a:tcPr/>
                </a:tc>
              </a:tr>
              <a:tr h="228600">
                <a:tc>
                  <a:txBody>
                    <a:bodyPr/>
                    <a:lstStyle/>
                    <a:p>
                      <a:r>
                        <a:rPr sz="950" b="1">
                          <a:solidFill>
                            <a:srgbClr val="202124"/>
                          </a:solidFill>
                        </a:rPr>
                        <a:t>Cortex-A78C x1</a:t>
                      </a:r>
                    </a:p>
                  </a:txBody>
                  <a:tcPr/>
                </a:tc>
                <a:tc>
                  <a:txBody>
                    <a:bodyPr/>
                    <a:lstStyle/>
                    <a:p>
                      <a:r>
                        <a:rPr sz="950" b="1">
                          <a:solidFill>
                            <a:srgbClr val="E8710A"/>
                          </a:solidFill>
                        </a:rPr>
                        <a:t>CPU</a:t>
                      </a:r>
                    </a:p>
                  </a:txBody>
                  <a:tcPr/>
                </a:tc>
                <a:tc>
                  <a:txBody>
                    <a:bodyPr/>
                    <a:lstStyle/>
                    <a:p>
                      <a:r>
                        <a:rPr sz="950" b="0">
                          <a:solidFill>
                            <a:srgbClr val="202124"/>
                          </a:solidFill>
                        </a:rPr>
                        <a:t>595.30 ms</a:t>
                      </a:r>
                    </a:p>
                  </a:txBody>
                  <a:tcPr/>
                </a:tc>
                <a:tc>
                  <a:txBody>
                    <a:bodyPr/>
                    <a:lstStyle/>
                    <a:p>
                      <a:r>
                        <a:rPr sz="950" b="0">
                          <a:solidFill>
                            <a:srgbClr val="202124"/>
                          </a:solidFill>
                        </a:rPr>
                        <a:t>1.68</a:t>
                      </a:r>
                    </a:p>
                  </a:txBody>
                  <a:tcPr/>
                </a:tc>
                <a:tc>
                  <a:txBody>
                    <a:bodyPr/>
                    <a:lstStyle/>
                    <a:p>
                      <a:r>
                        <a:rPr sz="950" b="1">
                          <a:solidFill>
                            <a:srgbClr val="202124"/>
                          </a:solidFill>
                        </a:rPr>
                        <a:t>279</a:t>
                      </a:r>
                    </a:p>
                  </a:txBody>
                  <a:tcPr/>
                </a:tc>
                <a:tc>
                  <a:txBody>
                    <a:bodyPr/>
                    <a:lstStyle/>
                    <a:p>
                      <a:r>
                        <a:rPr sz="950" b="0">
                          <a:solidFill>
                            <a:srgbClr val="202124"/>
                          </a:solidFill>
                        </a:rPr>
                        <a:t>10.2 † / 27.1</a:t>
                      </a:r>
                    </a:p>
                  </a:txBody>
                  <a:tcPr/>
                </a:tc>
                <a:tc>
                  <a:txBody>
                    <a:bodyPr/>
                    <a:lstStyle/>
                    <a:p>
                      <a:r>
                        <a:rPr sz="950" b="0">
                          <a:solidFill>
                            <a:srgbClr val="202124"/>
                          </a:solidFill>
                        </a:rPr>
                        <a:t>30x faster</a:t>
                      </a:r>
                    </a:p>
                  </a:txBody>
                  <a:tcPr/>
                </a:tc>
              </a:tr>
              <a:tr h="228600">
                <a:tc>
                  <a:txBody>
                    <a:bodyPr/>
                    <a:lstStyle/>
                    <a:p>
                      <a:r>
                        <a:rPr sz="950" b="1">
                          <a:solidFill>
                            <a:srgbClr val="202124"/>
                          </a:solidFill>
                        </a:rPr>
                        <a:t>Cortex-A720 x1</a:t>
                      </a:r>
                    </a:p>
                  </a:txBody>
                  <a:tcPr/>
                </a:tc>
                <a:tc>
                  <a:txBody>
                    <a:bodyPr/>
                    <a:lstStyle/>
                    <a:p>
                      <a:r>
                        <a:rPr sz="950" b="1">
                          <a:solidFill>
                            <a:srgbClr val="E8710A"/>
                          </a:solidFill>
                        </a:rPr>
                        <a:t>CPU</a:t>
                      </a:r>
                    </a:p>
                  </a:txBody>
                  <a:tcPr/>
                </a:tc>
                <a:tc>
                  <a:txBody>
                    <a:bodyPr/>
                    <a:lstStyle/>
                    <a:p>
                      <a:r>
                        <a:rPr sz="950" b="0">
                          <a:solidFill>
                            <a:srgbClr val="202124"/>
                          </a:solidFill>
                        </a:rPr>
                        <a:t>643.10 ms</a:t>
                      </a:r>
                    </a:p>
                  </a:txBody>
                  <a:tcPr/>
                </a:tc>
                <a:tc>
                  <a:txBody>
                    <a:bodyPr/>
                    <a:lstStyle/>
                    <a:p>
                      <a:r>
                        <a:rPr sz="950" b="0">
                          <a:solidFill>
                            <a:srgbClr val="202124"/>
                          </a:solidFill>
                        </a:rPr>
                        <a:t>1.55</a:t>
                      </a:r>
                    </a:p>
                  </a:txBody>
                  <a:tcPr/>
                </a:tc>
                <a:tc>
                  <a:txBody>
                    <a:bodyPr/>
                    <a:lstStyle/>
                    <a:p>
                      <a:r>
                        <a:rPr sz="950" b="1">
                          <a:solidFill>
                            <a:srgbClr val="202124"/>
                          </a:solidFill>
                        </a:rPr>
                        <a:t>258</a:t>
                      </a:r>
                    </a:p>
                  </a:txBody>
                  <a:tcPr/>
                </a:tc>
                <a:tc>
                  <a:txBody>
                    <a:bodyPr/>
                    <a:lstStyle/>
                    <a:p>
                      <a:r>
                        <a:rPr sz="950" b="0">
                          <a:solidFill>
                            <a:srgbClr val="202124"/>
                          </a:solidFill>
                        </a:rPr>
                        <a:t>9.4 † / 46.3</a:t>
                      </a:r>
                    </a:p>
                  </a:txBody>
                  <a:tcPr/>
                </a:tc>
                <a:tc>
                  <a:txBody>
                    <a:bodyPr/>
                    <a:lstStyle/>
                    <a:p>
                      <a:r>
                        <a:rPr sz="950" b="0">
                          <a:solidFill>
                            <a:srgbClr val="202124"/>
                          </a:solidFill>
                        </a:rPr>
                        <a:t>28x faster</a:t>
                      </a:r>
                    </a:p>
                  </a:txBody>
                  <a:tcPr/>
                </a:tc>
              </a:tr>
              <a:tr h="228600">
                <a:tc>
                  <a:txBody>
                    <a:bodyPr/>
                    <a:lstStyle/>
                    <a:p>
                      <a:r>
                        <a:rPr sz="950" b="1">
                          <a:solidFill>
                            <a:srgbClr val="202124"/>
                          </a:solidFill>
                        </a:rPr>
                        <a:t>Cortex-A55 x6</a:t>
                      </a:r>
                    </a:p>
                  </a:txBody>
                  <a:tcPr/>
                </a:tc>
                <a:tc>
                  <a:txBody>
                    <a:bodyPr/>
                    <a:lstStyle/>
                    <a:p>
                      <a:r>
                        <a:rPr sz="950" b="1">
                          <a:solidFill>
                            <a:srgbClr val="E8710A"/>
                          </a:solidFill>
                        </a:rPr>
                        <a:t>CPU</a:t>
                      </a:r>
                    </a:p>
                  </a:txBody>
                  <a:tcPr/>
                </a:tc>
                <a:tc>
                  <a:txBody>
                    <a:bodyPr/>
                    <a:lstStyle/>
                    <a:p>
                      <a:r>
                        <a:rPr sz="950" b="0">
                          <a:solidFill>
                            <a:srgbClr val="202124"/>
                          </a:solidFill>
                        </a:rPr>
                        <a:t>844.80 ms</a:t>
                      </a:r>
                    </a:p>
                  </a:txBody>
                  <a:tcPr/>
                </a:tc>
                <a:tc>
                  <a:txBody>
                    <a:bodyPr/>
                    <a:lstStyle/>
                    <a:p>
                      <a:r>
                        <a:rPr sz="950" b="0">
                          <a:solidFill>
                            <a:srgbClr val="202124"/>
                          </a:solidFill>
                        </a:rPr>
                        <a:t>1.18</a:t>
                      </a:r>
                    </a:p>
                  </a:txBody>
                  <a:tcPr/>
                </a:tc>
                <a:tc>
                  <a:txBody>
                    <a:bodyPr/>
                    <a:lstStyle/>
                    <a:p>
                      <a:r>
                        <a:rPr sz="950" b="1">
                          <a:solidFill>
                            <a:srgbClr val="202124"/>
                          </a:solidFill>
                        </a:rPr>
                        <a:t>196</a:t>
                      </a:r>
                    </a:p>
                  </a:txBody>
                  <a:tcPr/>
                </a:tc>
                <a:tc>
                  <a:txBody>
                    <a:bodyPr/>
                    <a:lstStyle/>
                    <a:p>
                      <a:r>
                        <a:rPr sz="950" b="1">
                          <a:solidFill>
                            <a:srgbClr val="187A33"/>
                          </a:solidFill>
                        </a:rPr>
                        <a:t>9.2 / 13.7</a:t>
                      </a:r>
                    </a:p>
                  </a:txBody>
                  <a:tcPr/>
                </a:tc>
                <a:tc>
                  <a:txBody>
                    <a:bodyPr/>
                    <a:lstStyle/>
                    <a:p>
                      <a:r>
                        <a:rPr sz="950" b="0">
                          <a:solidFill>
                            <a:srgbClr val="202124"/>
                          </a:solidFill>
                        </a:rPr>
                        <a:t>21x faster</a:t>
                      </a:r>
                    </a:p>
                  </a:txBody>
                  <a:tcPr/>
                </a:tc>
              </a:tr>
              <a:tr h="228600">
                <a:tc>
                  <a:txBody>
                    <a:bodyPr/>
                    <a:lstStyle/>
                    <a:p>
                      <a:r>
                        <a:rPr sz="950" b="1">
                          <a:solidFill>
                            <a:srgbClr val="202124"/>
                          </a:solidFill>
                        </a:rPr>
                        <a:t>Cortex-A55 x1</a:t>
                      </a:r>
                    </a:p>
                  </a:txBody>
                  <a:tcPr/>
                </a:tc>
                <a:tc>
                  <a:txBody>
                    <a:bodyPr/>
                    <a:lstStyle/>
                    <a:p>
                      <a:r>
                        <a:rPr sz="950" b="1">
                          <a:solidFill>
                            <a:srgbClr val="E8710A"/>
                          </a:solidFill>
                        </a:rPr>
                        <a:t>CPU</a:t>
                      </a:r>
                    </a:p>
                  </a:txBody>
                  <a:tcPr/>
                </a:tc>
                <a:tc>
                  <a:txBody>
                    <a:bodyPr/>
                    <a:lstStyle/>
                    <a:p>
                      <a:r>
                        <a:rPr sz="950" b="0">
                          <a:solidFill>
                            <a:srgbClr val="202124"/>
                          </a:solidFill>
                        </a:rPr>
                        <a:t>2,954.00 ms</a:t>
                      </a:r>
                    </a:p>
                  </a:txBody>
                  <a:tcPr/>
                </a:tc>
                <a:tc>
                  <a:txBody>
                    <a:bodyPr/>
                    <a:lstStyle/>
                    <a:p>
                      <a:r>
                        <a:rPr sz="950" b="0">
                          <a:solidFill>
                            <a:srgbClr val="202124"/>
                          </a:solidFill>
                        </a:rPr>
                        <a:t>0.34</a:t>
                      </a:r>
                    </a:p>
                  </a:txBody>
                  <a:tcPr/>
                </a:tc>
                <a:tc>
                  <a:txBody>
                    <a:bodyPr/>
                    <a:lstStyle/>
                    <a:p>
                      <a:r>
                        <a:rPr sz="950" b="1">
                          <a:solidFill>
                            <a:srgbClr val="202124"/>
                          </a:solidFill>
                        </a:rPr>
                        <a:t>56</a:t>
                      </a:r>
                    </a:p>
                  </a:txBody>
                  <a:tcPr/>
                </a:tc>
                <a:tc>
                  <a:txBody>
                    <a:bodyPr/>
                    <a:lstStyle/>
                    <a:p>
                      <a:r>
                        <a:rPr sz="950" b="1">
                          <a:solidFill>
                            <a:srgbClr val="187A33"/>
                          </a:solidFill>
                        </a:rPr>
                        <a:t>2.7 / 13.7</a:t>
                      </a:r>
                    </a:p>
                  </a:txBody>
                  <a:tcPr/>
                </a:tc>
                <a:tc>
                  <a:txBody>
                    <a:bodyPr/>
                    <a:lstStyle/>
                    <a:p>
                      <a:r>
                        <a:rPr sz="950" b="0">
                          <a:solidFill>
                            <a:srgbClr val="202124"/>
                          </a:solidFill>
                        </a:rPr>
                        <a:t>6x faster</a:t>
                      </a:r>
                    </a:p>
                  </a:txBody>
                  <a:tcPr/>
                </a:tc>
              </a:tr>
              <a:tr h="228600">
                <a:tc>
                  <a:txBody>
                    <a:bodyPr/>
                    <a:lstStyle/>
                    <a:p>
                      <a:r>
                        <a:rPr sz="950" b="1">
                          <a:solidFill>
                            <a:srgbClr val="202124"/>
                          </a:solidFill>
                        </a:rPr>
                        <a:t>Mali-G310 (1 CU)</a:t>
                      </a:r>
                    </a:p>
                  </a:txBody>
                  <a:tcPr/>
                </a:tc>
                <a:tc>
                  <a:txBody>
                    <a:bodyPr/>
                    <a:lstStyle/>
                    <a:p>
                      <a:r>
                        <a:rPr sz="950" b="1">
                          <a:solidFill>
                            <a:srgbClr val="4C8BF5"/>
                          </a:solidFill>
                        </a:rPr>
                        <a:t>GPU</a:t>
                      </a:r>
                    </a:p>
                  </a:txBody>
                  <a:tcPr/>
                </a:tc>
                <a:tc>
                  <a:txBody>
                    <a:bodyPr/>
                    <a:lstStyle/>
                    <a:p>
                      <a:r>
                        <a:rPr sz="950" b="0">
                          <a:solidFill>
                            <a:srgbClr val="202124"/>
                          </a:solidFill>
                        </a:rPr>
                        <a:t>3,657.00 ms</a:t>
                      </a:r>
                    </a:p>
                  </a:txBody>
                  <a:tcPr/>
                </a:tc>
                <a:tc>
                  <a:txBody>
                    <a:bodyPr/>
                    <a:lstStyle/>
                    <a:p>
                      <a:r>
                        <a:rPr sz="950" b="0">
                          <a:solidFill>
                            <a:srgbClr val="202124"/>
                          </a:solidFill>
                        </a:rPr>
                        <a:t>0.27</a:t>
                      </a:r>
                    </a:p>
                  </a:txBody>
                  <a:tcPr/>
                </a:tc>
                <a:tc>
                  <a:txBody>
                    <a:bodyPr/>
                    <a:lstStyle/>
                    <a:p>
                      <a:r>
                        <a:rPr sz="950" b="1">
                          <a:solidFill>
                            <a:srgbClr val="202124"/>
                          </a:solidFill>
                        </a:rPr>
                        <a:t>45</a:t>
                      </a:r>
                    </a:p>
                  </a:txBody>
                  <a:tcPr/>
                </a:tc>
                <a:tc>
                  <a:txBody>
                    <a:bodyPr/>
                    <a:lstStyle/>
                    <a:p>
                      <a:r>
                        <a:rPr sz="950" b="0">
                          <a:solidFill>
                            <a:srgbClr val="202124"/>
                          </a:solidFill>
                        </a:rPr>
                        <a:t>1.7 † / 13.7</a:t>
                      </a:r>
                    </a:p>
                  </a:txBody>
                  <a:tcPr/>
                </a:tc>
                <a:tc>
                  <a:txBody>
                    <a:bodyPr/>
                    <a:lstStyle/>
                    <a:p>
                      <a:r>
                        <a:rPr sz="950" b="0">
                          <a:solidFill>
                            <a:srgbClr val="202124"/>
                          </a:solidFill>
                        </a:rPr>
                        <a:t>5x faster</a:t>
                      </a:r>
                    </a:p>
                  </a:txBody>
                  <a:tcPr/>
                </a:tc>
              </a:tr>
              <a:tr h="228600">
                <a:tc>
                  <a:txBody>
                    <a:bodyPr/>
                    <a:lstStyle/>
                    <a:p>
                      <a:r>
                        <a:rPr sz="950" b="1">
                          <a:solidFill>
                            <a:srgbClr val="202124"/>
                          </a:solidFill>
                        </a:rPr>
                        <a:t>scalar reference</a:t>
                      </a:r>
                    </a:p>
                  </a:txBody>
                  <a:tcPr/>
                </a:tc>
                <a:tc>
                  <a:txBody>
                    <a:bodyPr/>
                    <a:lstStyle/>
                    <a:p>
                      <a:r>
                        <a:rPr sz="950" b="1">
                          <a:solidFill>
                            <a:srgbClr val="9AA0A6"/>
                          </a:solidFill>
                        </a:rPr>
                        <a:t>REF</a:t>
                      </a:r>
                    </a:p>
                  </a:txBody>
                  <a:tcPr/>
                </a:tc>
                <a:tc>
                  <a:txBody>
                    <a:bodyPr/>
                    <a:lstStyle/>
                    <a:p>
                      <a:r>
                        <a:rPr sz="950" b="0">
                          <a:solidFill>
                            <a:srgbClr val="202124"/>
                          </a:solidFill>
                        </a:rPr>
                        <a:t>18,020.00 ms</a:t>
                      </a:r>
                    </a:p>
                  </a:txBody>
                  <a:tcPr/>
                </a:tc>
                <a:tc>
                  <a:txBody>
                    <a:bodyPr/>
                    <a:lstStyle/>
                    <a:p>
                      <a:r>
                        <a:rPr sz="950" b="0">
                          <a:solidFill>
                            <a:srgbClr val="202124"/>
                          </a:solidFill>
                        </a:rPr>
                        <a:t>0.06</a:t>
                      </a:r>
                    </a:p>
                  </a:txBody>
                  <a:tcPr/>
                </a:tc>
                <a:tc>
                  <a:txBody>
                    <a:bodyPr/>
                    <a:lstStyle/>
                    <a:p>
                      <a:r>
                        <a:rPr sz="950" b="1">
                          <a:solidFill>
                            <a:srgbClr val="202124"/>
                          </a:solidFill>
                        </a:rPr>
                        <a:t>9.2</a:t>
                      </a:r>
                    </a:p>
                  </a:txBody>
                  <a:tcPr/>
                </a:tc>
                <a:tc>
                  <a:txBody>
                    <a:bodyPr/>
                    <a:lstStyle/>
                    <a:p>
                      <a:r>
                        <a:rPr sz="950" b="0">
                          <a:solidFill>
                            <a:srgbClr val="202124"/>
                          </a:solidFill>
                        </a:rPr>
                        <a:t>— / 13.7</a:t>
                      </a:r>
                    </a:p>
                  </a:txBody>
                  <a:tcPr/>
                </a:tc>
                <a:tc>
                  <a:txBody>
                    <a:bodyPr/>
                    <a:lstStyle/>
                    <a:p>
                      <a:r>
                        <a:rPr sz="950" b="0">
                          <a:solidFill>
                            <a:srgbClr val="202124"/>
                          </a:solidFill>
                        </a:rPr>
                        <a:t>the floor (1x)</a:t>
                      </a:r>
                    </a:p>
                  </a:txBody>
                  <a:tcPr/>
                </a:tc>
              </a:tr>
            </a:tbl>
          </a:graphicData>
        </a:graphic>
      </p:graphicFrame>
      <p:sp>
        <p:nvSpPr>
          <p:cNvPr id="5" name="TextBox 4"/>
          <p:cNvSpPr txBox="1"/>
          <p:nvPr/>
        </p:nvSpPr>
        <p:spPr>
          <a:xfrm>
            <a:off x="548640" y="5440680"/>
            <a:ext cx="11155680" cy="640080"/>
          </a:xfrm>
          <a:prstGeom prst="rect">
            <a:avLst/>
          </a:prstGeom>
          <a:noFill/>
        </p:spPr>
        <p:txBody>
          <a:bodyPr wrap="square">
            <a:spAutoFit/>
          </a:bodyPr>
          <a:lstStyle/>
          <a:p>
            <a:pPr algn="l"/>
            <a:r>
              <a:rPr sz="1150" b="1">
                <a:solidFill>
                  <a:srgbClr val="202124"/>
                </a:solidFill>
                <a:latin typeface="Calibri"/>
              </a:rPr>
              <a:t>Two clean statements on the 5090, one knob each:  A -&gt; C (same input images, algorithm swap): 3.46 -&gt; 11.96 ms - the two-scale 8-path algorithm costs ~3.5x the single-scale 4-path one.  C -&gt; B (same algorithm, 1080 -&gt; 800 rows): 11.96 -&gt; 9.08 ms. Row for row, C/B ratios cluster at the 1.35x the pixels predict (5090 1.32, Thor 1.26, NSP 1.348, Malis 1.34-1.35) - one exception below.</a:t>
            </a:r>
          </a:p>
        </p:txBody>
      </p:sp>
      <p:sp>
        <p:nvSpPr>
          <p:cNvPr id="6" name="TextBox 5"/>
          <p:cNvSpPr txBox="1"/>
          <p:nvPr/>
        </p:nvSpPr>
        <p:spPr>
          <a:xfrm>
            <a:off x="548640" y="6108192"/>
            <a:ext cx="11155680" cy="457200"/>
          </a:xfrm>
          <a:prstGeom prst="rect">
            <a:avLst/>
          </a:prstGeom>
          <a:noFill/>
        </p:spPr>
        <p:txBody>
          <a:bodyPr wrap="square">
            <a:spAutoFit/>
          </a:bodyPr>
          <a:lstStyle/>
          <a:p>
            <a:pPr algn="l"/>
            <a:r>
              <a:rPr sz="1050" b="0">
                <a:solidFill>
                  <a:srgbClr val="202124"/>
                </a:solidFill>
                <a:latin typeface="Calibri"/>
              </a:rPr>
              <a:t>The exception is the finding: the A720 CLUSTER runs C at B's wall-clock (1.01x) while its single core pays the full pixel tax (1.37x) - B's 8-thread run was never work-limited (thread scaling 1.98x vs C's 2.68x), so the extra 35% of pixels ride in the cluster's slack for free.</a:t>
            </a:r>
          </a:p>
        </p:txBody>
      </p:sp>
      <p:sp>
        <p:nvSpPr>
          <p:cNvPr id="7" name="TextBox 6"/>
          <p:cNvSpPr txBox="1"/>
          <p:nvPr/>
        </p:nvSpPr>
        <p:spPr>
          <a:xfrm>
            <a:off x="548640" y="6565392"/>
            <a:ext cx="11155680" cy="274320"/>
          </a:xfrm>
          <a:prstGeom prst="rect">
            <a:avLst/>
          </a:prstGeom>
          <a:noFill/>
        </p:spPr>
        <p:txBody>
          <a:bodyPr wrap="square">
            <a:spAutoFit/>
          </a:bodyPr>
          <a:lstStyle/>
          <a:p>
            <a:pPr algn="l"/>
            <a:r>
              <a:rPr sz="850" b="0">
                <a:solidFill>
                  <a:srgbClr val="5F6368"/>
                </a:solidFill>
                <a:latin typeface="Calibri"/>
              </a:rPr>
              <a:t>A78C/NSP cells: medians of repeated invocations (bimodal board). OFA rows: matched geometry, OWN algorithm at D=128 -- not bit-exact. ‡ DRAM achieved / ceiling GB/s. GREEN = MEASURED at the i.MX95 DDR controller (67% of the chip's bus at six threads). † = DERIVED: C's own 6.07 GB/frame byte model (B's 4.50 scaled by searched pixels, 1.35x) / the measured frame time -- same cache-reuse-free under-count, reproducing the measured A55x6 cell at 78%, which matches B's 80% and is the cross-check that the scaling is honest. RED = the A78C cell withdrawn as window-dependent. OFA rows blank: a different algorithm, so this model would be fiction.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2700" b="1">
                <a:solidFill>
                  <a:srgbClr val="202124"/>
                </a:solidFill>
                <a:latin typeface="Calibri"/>
              </a:rPr>
              <a:t>Configuration C, charted — the roster at 1920x1080</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The pair as one workload at two input sizes -- Run 1 = 1920x800 (previous chart), Run 2 = 1920x1080 (this one). Identical algorithm, identical parameters, identical roster; the ONLY variable between the two charts is the input size.</a:t>
            </a:r>
          </a:p>
        </p:txBody>
      </p:sp>
      <p:pic>
        <p:nvPicPr>
          <p:cNvPr id="4" name="Picture 3" descr="run2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50" b="0">
                <a:solidFill>
                  <a:srgbClr val="202124"/>
                </a:solidFill>
                <a:latin typeface="Calibri"/>
              </a:rPr>
              <a:t>Row for row the two charts differ by the 1.35x the pixel count predicts -- with one exception, the A720 cluster at 1.01x, which is the finding on the table slide. The hatched OFA bars carry no MDE/s: they are the fixed-function engines running their OWN algorithm at matched geometry, placed where a bit-exact implementation would have to land to match their frame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tuned  |  canonical: median of 5 invocations x 20 frames, 0.1% spread on a quiet card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0.00908 s
        =  13,533 million disparity estimations per second
frame rate  =  1000 / 9.08  =  110.13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fastest Configuration B target: 110 fps of two-scale, 8-path, weighted-P1</a:t>
            </a:r>
          </a:p>
          <a:p>
            <a:r>
              <a:rPr sz="1300">
                <a:solidFill>
                  <a:srgbClr val="202124"/>
                </a:solidFill>
                <a:latin typeface="Calibri"/>
              </a:rPr>
              <a:t>SGM on a workload designed for a fixed-function embedded block.</a:t>
            </a:r>
          </a:p>
          <a:p>
            <a:r>
              <a:rPr sz="1300">
                <a:solidFill>
                  <a:srgbClr val="202124"/>
                </a:solidFill>
                <a:latin typeface="Calibri"/>
              </a:rPr>
              <a:t>The port is a GENERIC path kernel: one warp owns one path line in any of the 8</a:t>
            </a:r>
          </a:p>
          <a:p>
            <a:r>
              <a:rPr sz="1300">
                <a:solidFill>
                  <a:srgbClr val="202124"/>
                </a:solidFill>
                <a:latin typeface="Calibri"/>
              </a:rPr>
              <a:t>directions, line start derived from the direction pair, P1 passed per launch</a:t>
            </a:r>
          </a:p>
          <a:p>
            <a:r>
              <a:rPr sz="1300">
                <a:solidFill>
                  <a:srgbClr val="202124"/>
                </a:solidFill>
                <a:latin typeface="Calibri"/>
              </a:rPr>
              <a:t>so the direction weighting costs nothing. Bit-exact on the first full run.</a:t>
            </a:r>
          </a:p>
          <a:p>
            <a:r>
              <a:rPr sz="1300">
                <a:solidFill>
                  <a:srgbClr val="202124"/>
                </a:solidFill>
                <a:latin typeface="Calibri"/>
              </a:rPr>
              <a:t>It lacks the primary kernel's path-pairing pass, so this row is the</a:t>
            </a:r>
          </a:p>
          <a:p>
            <a:r>
              <a:rPr sz="1300">
                <a:solidFill>
                  <a:srgbClr val="202124"/>
                </a:solidFill>
                <a:latin typeface="Calibri"/>
              </a:rPr>
              <a:t>conservative side of what the card can do.</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0.04510 s
        =  2,725 million disparity estimations per second
frame rate  =  1000 / 45.10  =  22.17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22 fps embedded. Same generic 8-direction kernel as the 5090, bit-exact.</a:t>
            </a:r>
          </a:p>
          <a:p>
            <a:r>
              <a:rPr sz="1300">
                <a:solidFill>
                  <a:srgbClr val="202124"/>
                </a:solidFill>
                <a:latin typeface="Calibri"/>
              </a:rPr>
              <a:t>The gap to the 5090 (5.0x) is close to the bandwidth ratio of the parts,</a:t>
            </a:r>
          </a:p>
          <a:p>
            <a:r>
              <a:rPr sz="1300">
                <a:solidFill>
                  <a:srgbClr val="202124"/>
                </a:solidFill>
                <a:latin typeface="Calibri"/>
              </a:rPr>
              <a:t>consistent with the Configuration A finding that tuned SGM converges on</a:t>
            </a:r>
          </a:p>
          <a:p>
            <a:r>
              <a:rPr sz="1300">
                <a:solidFill>
                  <a:srgbClr val="202124"/>
                </a:solidFill>
                <a:latin typeface="Calibri"/>
              </a:rPr>
              <a:t>memory traffic once the arithmetic is done.</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0.07280 s
        =  1,688 million disparity estimations per second
frame rate  =  1000 / 72.80  =  13.74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14 fps on the previous embedded generation, bit-exact, no per-part tuning.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 (6 threads)</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NEON+OpenMP  |  single core: 442.60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0.21190 s
        =  580 million disparity estimations per second
frame rate  =  1000 / 211.90  =  4.72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best programmable embedded result -- and it comes from</a:t>
            </a:r>
          </a:p>
          <a:p>
            <a:r>
              <a:rPr sz="1300">
                <a:solidFill>
                  <a:srgbClr val="202124"/>
                </a:solidFill>
                <a:latin typeface="Calibri"/>
              </a:rPr>
              <a:t>multiscale/sgm_ms_neon.c running UNMODIFIED on another vendor's</a:t>
            </a:r>
          </a:p>
          <a:p>
            <a:r>
              <a:rPr sz="1300">
                <a:solidFill>
                  <a:srgbClr val="202124"/>
                </a:solidFill>
                <a:latin typeface="Calibri"/>
              </a:rPr>
              <a:t>silicon, golden every run. Medians of five invocations on a board that is</a:t>
            </a:r>
          </a:p>
          <a:p>
            <a:r>
              <a:rPr sz="1300">
                <a:solidFill>
                  <a:srgbClr val="202124"/>
                </a:solidFill>
                <a:latin typeface="Calibri"/>
              </a:rPr>
              <a:t>bimodal by ~9% between invocations; medians quoted, never minima.</a:t>
            </a:r>
          </a:p>
          <a:p>
            <a:r>
              <a:rPr sz="1300">
                <a:solidFill>
                  <a:srgbClr val="202124"/>
                </a:solidFill>
                <a:latin typeface="Calibri"/>
              </a:rPr>
              <a:t>This row is also what corrected the record: at the oracle tier the NSP</a:t>
            </a:r>
          </a:p>
          <a:p>
            <a:r>
              <a:rPr sz="1300">
                <a:solidFill>
                  <a:srgbClr val="202124"/>
                </a:solidFill>
                <a:latin typeface="Calibri"/>
              </a:rPr>
              <a:t>appeared to lead the cluster 3.29x; at the matched NEON tier the cluster</a:t>
            </a:r>
          </a:p>
          <a:p>
            <a:r>
              <a:rPr sz="1300">
                <a:solidFill>
                  <a:srgbClr val="202124"/>
                </a:solidFill>
                <a:latin typeface="Calibri"/>
              </a:rPr>
              <a:t>leads 1.30x. A cross-tier comparison is a cross-configuration comparison</a:t>
            </a:r>
          </a:p>
          <a:p>
            <a:r>
              <a:rPr sz="1300">
                <a:solidFill>
                  <a:srgbClr val="202124"/>
                </a:solidFill>
                <a:latin typeface="Calibri"/>
              </a:rPr>
              <a:t>wearing a platform comparison's clothes.</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Radxa Orion O6, NEON+OpenMP  |  single core: 470.9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0.23830 s
        =  516 million disparity estimations per second
frame rate  =  1000 / 238.30  =  4.20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NEON tier is 5.8x the scalar oracle on this cluster. The kernel keeps</a:t>
            </a:r>
          </a:p>
          <a:p>
            <a:r>
              <a:rPr sz="1300">
                <a:solidFill>
                  <a:srgbClr val="202124"/>
                </a:solidFill>
                <a:latin typeface="Calibri"/>
              </a:rPr>
              <a:t>Configuration A's register scheme and adds the saturating step, the</a:t>
            </a:r>
          </a:p>
          <a:p>
            <a:r>
              <a:rPr sz="1300">
                <a:solidFill>
                  <a:srgbClr val="202124"/>
                </a:solidFill>
                <a:latin typeface="Calibri"/>
              </a:rPr>
              <a:t>direction-weighted P1 per sweep, and a uint16 sum plane for 8-path S.</a:t>
            </a:r>
          </a:p>
          <a:p>
            <a:r>
              <a:rPr sz="1300">
                <a:solidFill>
                  <a:srgbClr val="202124"/>
                </a:solidFill>
                <a:latin typeface="Calibri"/>
              </a:rPr>
              <a:t>OpenMP is output-neutral by construction: rows for horizontal sweeps,</a:t>
            </a:r>
          </a:p>
          <a:p>
            <a:r>
              <a:rPr sz="1300">
                <a:solidFill>
                  <a:srgbClr val="202124"/>
                </a:solidFill>
                <a:latin typeface="Calibri"/>
              </a:rPr>
              <a:t>columns-within-row for vertical and diagonal, so the hash cannot move</a:t>
            </a:r>
          </a:p>
          <a:p>
            <a:r>
              <a:rPr sz="1300">
                <a:solidFill>
                  <a:srgbClr val="202124"/>
                </a:solidFill>
                <a:latin typeface="Calibri"/>
              </a:rPr>
              <a:t>with the thread count.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HVX, 4 contexts  |  median of 5, 0.75% spread, golden 10/10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0.27630 s
        =  445 million disparity estimations per second
frame rate  =  1000 / 276.30  =  3.62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Contributed port, independently re-verified (three further gated runs,</a:t>
            </a:r>
          </a:p>
          <a:p>
            <a:r>
              <a:rPr sz="1300">
                <a:solidFill>
                  <a:srgbClr val="202124"/>
                </a:solidFill>
                <a:latin typeface="Calibri"/>
              </a:rPr>
              <a:t>269-272 ms). Per ENGINE this is the embedded win: one NSP beats one A78C</a:t>
            </a:r>
          </a:p>
          <a:p>
            <a:r>
              <a:rPr sz="1300">
                <a:solidFill>
                  <a:srgbClr val="202124"/>
                </a:solidFill>
                <a:latin typeface="Calibri"/>
              </a:rPr>
              <a:t>core 1.60x at matched tiers.</a:t>
            </a:r>
          </a:p>
          <a:p>
            <a:r>
              <a:rPr sz="1300">
                <a:solidFill>
                  <a:srgbClr val="202124"/>
                </a:solidFill>
                <a:latin typeface="Calibri"/>
              </a:rPr>
              <a:t>Diagonals use a sync-free chain-band decomposition -- workers own equal-pixel</a:t>
            </a:r>
          </a:p>
          <a:p>
            <a:r>
              <a:rPr sz="1300">
                <a:solidFill>
                  <a:srgbClr val="202124"/>
                </a:solidFill>
                <a:latin typeface="Calibri"/>
              </a:rPr>
              <a:t>bands of diagonal chains, S worker-disjoint, bit-exact with NO barriers.</a:t>
            </a:r>
          </a:p>
          <a:p>
            <a:r>
              <a:rPr sz="1300">
                <a:solidFill>
                  <a:srgbClr val="202124"/>
                </a:solidFill>
                <a:latin typeface="Calibri"/>
              </a:rPr>
              <a:t>The two-scale merge is fused into the stage-2 cost build, saving ~200 MB</a:t>
            </a:r>
          </a:p>
          <a:p>
            <a:r>
              <a:rPr sz="1300">
                <a:solidFill>
                  <a:srgbClr val="202124"/>
                </a:solidFill>
                <a:latin typeface="Calibri"/>
              </a:rPr>
              <a:t>of traffic per frame. The 4-HVX-context knee holds here too: 6 threads is</a:t>
            </a:r>
          </a:p>
          <a:p>
            <a:r>
              <a:rPr sz="1300">
                <a:solidFill>
                  <a:srgbClr val="202124"/>
                </a:solidFill>
                <a:latin typeface="Calibri"/>
              </a:rPr>
              <a:t>29% WORSE than 4.</a:t>
            </a:r>
          </a:p>
          <a:p>
            <a:r>
              <a:rPr sz="1300">
                <a:solidFill>
                  <a:srgbClr val="202124"/>
                </a:solidFill>
                <a:latin typeface="Calibri"/>
              </a:rPr>
              <a:t>P2=200 overflowed their packed (S&lt;&lt;6)|d argmin key at S=2040 -- the warned</a:t>
            </a:r>
          </a:p>
          <a:p>
            <a:r>
              <a:rPr sz="1300">
                <a:solidFill>
                  <a:srgbClr val="202124"/>
                </a:solidFill>
                <a:latin typeface="Calibri"/>
              </a:rPr>
              <a:t>saturation failure mode, one stage downstream of the warned location.</a:t>
            </a:r>
          </a:p>
          <a:p>
            <a:r>
              <a:rPr sz="1300">
                <a:solidFill>
                  <a:srgbClr val="202124"/>
                </a:solidFill>
                <a:latin typeface="Calibri"/>
              </a:rPr>
              <a:t>Redesigned and sim-proven on tie-storms at the cap before shipping.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0.38000 s
        =  323 million disparity estimations per second
frame rate  =  1000 / 380.00  =  2.63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One 16-work-item work-group owns each path line; barriers are uniform</a:t>
            </a:r>
          </a:p>
          <a:p>
            <a:r>
              <a:rPr sz="1300">
                <a:solidFill>
                  <a:srgbClr val="202124"/>
                </a:solidFill>
                <a:latin typeface="Calibri"/>
              </a:rPr>
              <a:t>because every work-item in the group walks the same line trajectory.</a:t>
            </a:r>
          </a:p>
          <a:p>
            <a:r>
              <a:rPr sz="1300">
                <a:solidFill>
                  <a:srgbClr val="202124"/>
                </a:solidFill>
                <a:latin typeface="Calibri"/>
              </a:rPr>
              <a:t>Bit-exact on the first attempt. Same caveat as Configuration A: a</a:t>
            </a:r>
          </a:p>
          <a:p>
            <a:r>
              <a:rPr sz="1300">
                <a:solidFill>
                  <a:srgbClr val="202124"/>
                </a:solidFill>
                <a:latin typeface="Calibri"/>
              </a:rPr>
              <a:t>single-chain-per-line kernel is an effort floor for this part, not a</a:t>
            </a:r>
          </a:p>
          <a:p>
            <a:r>
              <a:rPr sz="1300">
                <a:solidFill>
                  <a:srgbClr val="202124"/>
                </a:solidFill>
                <a:latin typeface="Calibri"/>
              </a:rPr>
              <a:t>verdict on 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i.MX 95 FRDM, 1.8 GHz, NEON+OpenMP  |  single core: 2,201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0.64010 s
        =  192 million disparity estimations per second
frame rate  =  1000 / 640.10  =  1.56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anchor platform runs the full two-scale 8-path configuration at 1.56 fps</a:t>
            </a:r>
          </a:p>
          <a:p>
            <a:r>
              <a:rPr sz="1300">
                <a:solidFill>
                  <a:srgbClr val="202124"/>
                </a:solidFill>
                <a:latin typeface="Calibri"/>
              </a:rPr>
              <a:t>-- 22x the scalar oracle on the same six cores' single-core floor.</a:t>
            </a:r>
          </a:p>
          <a:p>
            <a:r>
              <a:rPr sz="1300">
                <a:solidFill>
                  <a:srgbClr val="202124"/>
                </a:solidFill>
                <a:latin typeface="Calibri"/>
              </a:rPr>
              <a:t>The saturating NEON step (vqaddq_u8 against P2=200) is the part Configuration</a:t>
            </a:r>
          </a:p>
          <a:p>
            <a:r>
              <a:rPr sz="1300">
                <a:solidFill>
                  <a:srgbClr val="202124"/>
                </a:solidFill>
                <a:latin typeface="Calibri"/>
              </a:rPr>
              <a:t>A never needed: its static assert guarantees no overflow at P2=192, and</a:t>
            </a:r>
          </a:p>
          <a:p>
            <a:r>
              <a:rPr sz="1300">
                <a:solidFill>
                  <a:srgbClr val="202124"/>
                </a:solidFill>
                <a:latin typeface="Calibri"/>
              </a:rPr>
              <a:t>Configuration B is the configuration that breaks that assumption.</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2.70400 s
        =  45 million disparity estimations per second
frame rate  =  1000 / 2,704.00  =  0.37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Same OpenCL kernel as the G720, same hash, one compute unit.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1x Cortex-A55, plain C,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14.26500 s
        =  9 million disparity estimations per second
frame rate  =  1000 / 14,265.00  =  0.07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multiscale/sgm_ms_ref.c defines golden bcb9cb0bd6f49799 and pins every</a:t>
            </a:r>
          </a:p>
          <a:p>
            <a:r>
              <a:rPr sz="1300">
                <a:solidFill>
                  <a:srgbClr val="202124"/>
                </a:solidFill>
                <a:latin typeface="Calibri"/>
              </a:rPr>
              <a:t>contestable choice in its header: ties to lowest d, saturation at 255,</a:t>
            </a:r>
          </a:p>
          <a:p>
            <a:r>
              <a:rPr sz="1300">
                <a:solidFill>
                  <a:srgbClr val="202124"/>
                </a:solidFill>
                <a:latin typeface="Calibri"/>
              </a:rPr>
              <a:t>2x2 box downsample, (x/2, y/2, d/2) merge indexing, x-d&lt;0 costs 63.</a:t>
            </a:r>
          </a:p>
          <a:p>
            <a:r>
              <a:rPr sz="1300">
                <a:solidFill>
                  <a:srgbClr val="202124"/>
                </a:solidFill>
                <a:latin typeface="Calibri"/>
              </a:rPr>
              <a:t>Every row above reproduces it byte-exactly or its timing is void.</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